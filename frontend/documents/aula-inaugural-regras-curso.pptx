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5" r:id="rId9"/>
    <p:sldId id="266" r:id="rId10"/>
    <p:sldId id="260" r:id="rId11"/>
    <p:sldId id="268" r:id="rId12"/>
    <p:sldId id="261" r:id="rId13"/>
    <p:sldId id="269" r:id="rId14"/>
    <p:sldId id="267" r:id="rId15"/>
    <p:sldId id="262" r:id="rId16"/>
    <p:sldId id="263" r:id="rId1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575DD-1E1D-3CF3-301F-38A62D291C1F}" v="24" dt="2026-06-03T18:31:50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ércio Oliveira" userId="S::tercio.oliveira@escoladanuvem.org::c94e3289-f787-422b-b7c8-acd35bcd421f" providerId="AD" clId="Web-{FE7D1A74-3558-4FC2-A2A8-90C4D82ABEEC}"/>
    <pc:docChg chg="modSld">
      <pc:chgData name="Tércio Oliveira" userId="S::tercio.oliveira@escoladanuvem.org::c94e3289-f787-422b-b7c8-acd35bcd421f" providerId="AD" clId="Web-{FE7D1A74-3558-4FC2-A2A8-90C4D82ABEEC}" dt="2026-05-11T15:38:28.756" v="36" actId="20577"/>
      <pc:docMkLst>
        <pc:docMk/>
      </pc:docMkLst>
      <pc:sldChg chg="modSp">
        <pc:chgData name="Tércio Oliveira" userId="S::tercio.oliveira@escoladanuvem.org::c94e3289-f787-422b-b7c8-acd35bcd421f" providerId="AD" clId="Web-{FE7D1A74-3558-4FC2-A2A8-90C4D82ABEEC}" dt="2026-05-11T15:37:54.848" v="27" actId="688"/>
        <pc:sldMkLst>
          <pc:docMk/>
          <pc:sldMk cId="0" sldId="262"/>
        </pc:sldMkLst>
        <pc:spChg chg="mod">
          <ac:chgData name="Tércio Oliveira" userId="S::tercio.oliveira@escoladanuvem.org::c94e3289-f787-422b-b7c8-acd35bcd421f" providerId="AD" clId="Web-{FE7D1A74-3558-4FC2-A2A8-90C4D82ABEEC}" dt="2026-05-11T15:37:51.129" v="26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Tércio Oliveira" userId="S::tercio.oliveira@escoladanuvem.org::c94e3289-f787-422b-b7c8-acd35bcd421f" providerId="AD" clId="Web-{FE7D1A74-3558-4FC2-A2A8-90C4D82ABEEC}" dt="2026-05-11T15:37:54.848" v="27" actId="688"/>
          <ac:spMkLst>
            <pc:docMk/>
            <pc:sldMk cId="0" sldId="262"/>
            <ac:spMk id="24" creationId="{8682C2DA-03D5-8CBA-F762-B8D4C04C567B}"/>
          </ac:spMkLst>
        </pc:spChg>
      </pc:sldChg>
      <pc:sldChg chg="modSp">
        <pc:chgData name="Tércio Oliveira" userId="S::tercio.oliveira@escoladanuvem.org::c94e3289-f787-422b-b7c8-acd35bcd421f" providerId="AD" clId="Web-{FE7D1A74-3558-4FC2-A2A8-90C4D82ABEEC}" dt="2026-05-11T15:38:28.756" v="36" actId="20577"/>
        <pc:sldMkLst>
          <pc:docMk/>
          <pc:sldMk cId="3402807540" sldId="267"/>
        </pc:sldMkLst>
        <pc:spChg chg="mod">
          <ac:chgData name="Tércio Oliveira" userId="S::tercio.oliveira@escoladanuvem.org::c94e3289-f787-422b-b7c8-acd35bcd421f" providerId="AD" clId="Web-{FE7D1A74-3558-4FC2-A2A8-90C4D82ABEEC}" dt="2026-05-11T15:38:28.756" v="36" actId="20577"/>
          <ac:spMkLst>
            <pc:docMk/>
            <pc:sldMk cId="3402807540" sldId="267"/>
            <ac:spMk id="17" creationId="{0A8397E3-4DCF-CD76-B5B2-77C4C0F22F18}"/>
          </ac:spMkLst>
        </pc:spChg>
      </pc:sldChg>
    </pc:docChg>
  </pc:docChgLst>
  <pc:docChgLst>
    <pc:chgData name="Tércio Oliveira" userId="S::tercio.oliveira@escoladanuvem.org::c94e3289-f787-422b-b7c8-acd35bcd421f" providerId="AD" clId="Web-{BB4575DD-1E1D-3CF3-301F-38A62D291C1F}"/>
    <pc:docChg chg="addSld modSld">
      <pc:chgData name="Tércio Oliveira" userId="S::tercio.oliveira@escoladanuvem.org::c94e3289-f787-422b-b7c8-acd35bcd421f" providerId="AD" clId="Web-{BB4575DD-1E1D-3CF3-301F-38A62D291C1F}" dt="2026-06-03T18:31:50.491" v="23"/>
      <pc:docMkLst>
        <pc:docMk/>
      </pc:docMkLst>
      <pc:sldChg chg="addSp delSp modSp add replId">
        <pc:chgData name="Tércio Oliveira" userId="S::tercio.oliveira@escoladanuvem.org::c94e3289-f787-422b-b7c8-acd35bcd421f" providerId="AD" clId="Web-{BB4575DD-1E1D-3CF3-301F-38A62D291C1F}" dt="2026-06-03T18:31:50.491" v="23"/>
        <pc:sldMkLst>
          <pc:docMk/>
          <pc:sldMk cId="1545793505" sldId="269"/>
        </pc:sldMkLst>
        <pc:spChg chg="del mod">
          <ac:chgData name="Tércio Oliveira" userId="S::tercio.oliveira@escoladanuvem.org::c94e3289-f787-422b-b7c8-acd35bcd421f" providerId="AD" clId="Web-{BB4575DD-1E1D-3CF3-301F-38A62D291C1F}" dt="2026-06-03T18:30:13.141" v="12"/>
          <ac:spMkLst>
            <pc:docMk/>
            <pc:sldMk cId="1545793505" sldId="269"/>
            <ac:spMk id="5" creationId="{3A87633B-3C9D-2798-5E95-099828ADAC6B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24.360" v="17"/>
          <ac:spMkLst>
            <pc:docMk/>
            <pc:sldMk cId="1545793505" sldId="269"/>
            <ac:spMk id="7" creationId="{4E2FA361-0837-A2C4-27D8-A70C6BF98448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22.719" v="16"/>
          <ac:spMkLst>
            <pc:docMk/>
            <pc:sldMk cId="1545793505" sldId="269"/>
            <ac:spMk id="8" creationId="{78C18B36-9900-C2B2-5952-40C04EC47A4E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21.172" v="15"/>
          <ac:spMkLst>
            <pc:docMk/>
            <pc:sldMk cId="1545793505" sldId="269"/>
            <ac:spMk id="9" creationId="{935C3E08-3541-792B-6898-454373777DD2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31.798" v="21"/>
          <ac:spMkLst>
            <pc:docMk/>
            <pc:sldMk cId="1545793505" sldId="269"/>
            <ac:spMk id="10" creationId="{B7B6C133-F37D-252B-82BC-7D3E17162F13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33.798" v="22"/>
          <ac:spMkLst>
            <pc:docMk/>
            <pc:sldMk cId="1545793505" sldId="269"/>
            <ac:spMk id="11" creationId="{FEAE0A56-F0B3-B633-4564-256077559310}"/>
          </ac:spMkLst>
        </pc:spChg>
        <pc:spChg chg="del mod">
          <ac:chgData name="Tércio Oliveira" userId="S::tercio.oliveira@escoladanuvem.org::c94e3289-f787-422b-b7c8-acd35bcd421f" providerId="AD" clId="Web-{BB4575DD-1E1D-3CF3-301F-38A62D291C1F}" dt="2026-06-03T18:30:27.126" v="19"/>
          <ac:spMkLst>
            <pc:docMk/>
            <pc:sldMk cId="1545793505" sldId="269"/>
            <ac:spMk id="12" creationId="{4A83B766-535A-23C6-4AD0-DC50A25C6D84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17.422" v="13"/>
          <ac:spMkLst>
            <pc:docMk/>
            <pc:sldMk cId="1545793505" sldId="269"/>
            <ac:spMk id="18" creationId="{20225542-B03D-EC70-D99C-5B34788A1570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19.282" v="14"/>
          <ac:spMkLst>
            <pc:docMk/>
            <pc:sldMk cId="1545793505" sldId="269"/>
            <ac:spMk id="19" creationId="{2DF4D250-BE76-18F2-5B61-0355B5D4F8C8}"/>
          </ac:spMkLst>
        </pc:spChg>
        <pc:spChg chg="del">
          <ac:chgData name="Tércio Oliveira" userId="S::tercio.oliveira@escoladanuvem.org::c94e3289-f787-422b-b7c8-acd35bcd421f" providerId="AD" clId="Web-{BB4575DD-1E1D-3CF3-301F-38A62D291C1F}" dt="2026-06-03T18:30:29.579" v="20"/>
          <ac:spMkLst>
            <pc:docMk/>
            <pc:sldMk cId="1545793505" sldId="269"/>
            <ac:spMk id="20" creationId="{E79CD753-B700-FF3B-34B4-771F94641DEA}"/>
          </ac:spMkLst>
        </pc:spChg>
        <pc:picChg chg="del">
          <ac:chgData name="Tércio Oliveira" userId="S::tercio.oliveira@escoladanuvem.org::c94e3289-f787-422b-b7c8-acd35bcd421f" providerId="AD" clId="Web-{BB4575DD-1E1D-3CF3-301F-38A62D291C1F}" dt="2026-06-03T18:30:06.968" v="1"/>
          <ac:picMkLst>
            <pc:docMk/>
            <pc:sldMk cId="1545793505" sldId="269"/>
            <ac:picMk id="4" creationId="{F6BF58D3-F60F-E78D-F443-04961EA5A030}"/>
          </ac:picMkLst>
        </pc:picChg>
        <pc:picChg chg="add mod">
          <ac:chgData name="Tércio Oliveira" userId="S::tercio.oliveira@escoladanuvem.org::c94e3289-f787-422b-b7c8-acd35bcd421f" providerId="AD" clId="Web-{BB4575DD-1E1D-3CF3-301F-38A62D291C1F}" dt="2026-06-03T18:31:50.491" v="23"/>
          <ac:picMkLst>
            <pc:docMk/>
            <pc:sldMk cId="1545793505" sldId="269"/>
            <ac:picMk id="6" creationId="{0E997B4B-115F-DD55-C79A-23C78FE06A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5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A18E-2635-33FD-242F-06F8F9BD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567A7-A104-8A0A-7650-DAD4A77B3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36377-23F8-FF46-5972-853B908CC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DA834-F614-65C7-10E2-84761C36B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86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DA50-0642-9F93-7BD1-4FB8C477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AC534-38B9-10C2-381B-D5BD8E898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C0DCA-9673-FDC6-5886-11CEC82F2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CB00D-6029-7AE8-60B6-22A76F5CF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85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2870-9430-4683-C27F-3B86CF6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1D55E-573F-7460-0808-60977874F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AC16D-4F3C-F4AD-86C4-7128212D8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86E47-6B3D-2DD9-D79C-44F491EFE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9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2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0"/>
          <p:cNvSpPr txBox="1">
            <a:spLocks noGrp="1"/>
          </p:cNvSpPr>
          <p:nvPr>
            <p:ph type="ctrTitle"/>
          </p:nvPr>
        </p:nvSpPr>
        <p:spPr>
          <a:xfrm>
            <a:off x="1828800" y="1346836"/>
            <a:ext cx="10972800" cy="28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subTitle" idx="1"/>
          </p:nvPr>
        </p:nvSpPr>
        <p:spPr>
          <a:xfrm>
            <a:off x="1828800" y="4322447"/>
            <a:ext cx="10972800" cy="19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32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28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dt" idx="10"/>
          </p:nvPr>
        </p:nvSpPr>
        <p:spPr>
          <a:xfrm>
            <a:off x="1005840" y="7627622"/>
            <a:ext cx="3291840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0"/>
          <p:cNvSpPr txBox="1">
            <a:spLocks noGrp="1"/>
          </p:cNvSpPr>
          <p:nvPr>
            <p:ph type="ftr" idx="11"/>
          </p:nvPr>
        </p:nvSpPr>
        <p:spPr>
          <a:xfrm>
            <a:off x="4846320" y="7627622"/>
            <a:ext cx="4937760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0"/>
          <p:cNvSpPr txBox="1">
            <a:spLocks noGrp="1"/>
          </p:cNvSpPr>
          <p:nvPr>
            <p:ph type="sldNum" idx="12"/>
          </p:nvPr>
        </p:nvSpPr>
        <p:spPr>
          <a:xfrm>
            <a:off x="10332720" y="7627622"/>
            <a:ext cx="3291840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95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346835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/>
            </a:lvl3pPr>
            <a:lvl4pPr lvl="3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840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60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840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472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meet.google.com/wgf-qmna-ajg?pli=1&amp;authuser=4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eet.google.com/agy-gbwe-jtr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4.jpe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" y="2491740"/>
            <a:ext cx="4869180" cy="32461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50437" y="1917621"/>
            <a:ext cx="7415927" cy="21293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8384"/>
              </a:lnSpc>
            </a:pPr>
            <a:r>
              <a:rPr lang="en-US" sz="6700" b="1">
                <a:latin typeface="p22-mackinac-pro"/>
                <a:ea typeface="p22-mackinac-pro"/>
              </a:rPr>
              <a:t>REGRAS AWS RE/START</a:t>
            </a:r>
          </a:p>
        </p:txBody>
      </p:sp>
      <p:sp>
        <p:nvSpPr>
          <p:cNvPr id="7" name="Text 2"/>
          <p:cNvSpPr/>
          <p:nvPr/>
        </p:nvSpPr>
        <p:spPr>
          <a:xfrm>
            <a:off x="6350437" y="4417219"/>
            <a:ext cx="7415927" cy="11851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Sejam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bem-vindos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às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regras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do AWS re/Start. Neste slide,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vamos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apresentar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informações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importantes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 para o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curso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.</a:t>
            </a:r>
            <a:endParaRPr lang="en-US" sz="1900">
              <a:latin typeface="Eudoxus Sans"/>
            </a:endParaRPr>
          </a:p>
        </p:txBody>
      </p:sp>
      <p:sp>
        <p:nvSpPr>
          <p:cNvPr id="9" name="Text 4"/>
          <p:cNvSpPr/>
          <p:nvPr/>
        </p:nvSpPr>
        <p:spPr>
          <a:xfrm>
            <a:off x="6489144" y="6047184"/>
            <a:ext cx="117515" cy="97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68">
                <a:solidFill>
                  <a:srgbClr val="FFFFFF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FA</a:t>
            </a:r>
            <a:endParaRPr lang="en-US" sz="768"/>
          </a:p>
        </p:txBody>
      </p:sp>
      <p:pic>
        <p:nvPicPr>
          <p:cNvPr id="13" name="Imagem 12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592CBCA3-27F3-E3CB-FA94-EB3CCEBF7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14" name="Google Shape;166;p29">
            <a:extLst>
              <a:ext uri="{FF2B5EF4-FFF2-40B4-BE49-F238E27FC236}">
                <a16:creationId xmlns:a16="http://schemas.microsoft.com/office/drawing/2014/main" id="{6692B7D1-2DDF-9F75-9A85-E4E097683632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rgbClr val="E7E6E6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rgbClr val="E7E6E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610" y="1866900"/>
            <a:ext cx="4869061" cy="44958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64037" y="1487210"/>
            <a:ext cx="7300555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REQUISITOS DO CURSO</a:t>
            </a:r>
            <a:endParaRPr lang="en-US" sz="4860"/>
          </a:p>
        </p:txBody>
      </p:sp>
      <p:sp>
        <p:nvSpPr>
          <p:cNvPr id="7" name="Shape 2"/>
          <p:cNvSpPr/>
          <p:nvPr/>
        </p:nvSpPr>
        <p:spPr>
          <a:xfrm>
            <a:off x="864037" y="29066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3"/>
          <p:cNvSpPr/>
          <p:nvPr/>
        </p:nvSpPr>
        <p:spPr>
          <a:xfrm>
            <a:off x="1066562" y="2999184"/>
            <a:ext cx="150376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1</a:t>
            </a:r>
            <a:endParaRPr lang="en-US" sz="2916"/>
          </a:p>
        </p:txBody>
      </p:sp>
      <p:sp>
        <p:nvSpPr>
          <p:cNvPr id="9" name="Text 4"/>
          <p:cNvSpPr/>
          <p:nvPr/>
        </p:nvSpPr>
        <p:spPr>
          <a:xfrm>
            <a:off x="1666280" y="2906673"/>
            <a:ext cx="3790355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Acesso a um computador</a:t>
            </a:r>
            <a:endParaRPr lang="en-US" sz="2430"/>
          </a:p>
        </p:txBody>
      </p:sp>
      <p:sp>
        <p:nvSpPr>
          <p:cNvPr id="10" name="Text 5"/>
          <p:cNvSpPr/>
          <p:nvPr/>
        </p:nvSpPr>
        <p:spPr>
          <a:xfrm>
            <a:off x="1666280" y="3440549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Para atividades do curso.</a:t>
            </a:r>
            <a:endParaRPr lang="en-US" sz="1944"/>
          </a:p>
        </p:txBody>
      </p:sp>
      <p:sp>
        <p:nvSpPr>
          <p:cNvPr id="11" name="Shape 6"/>
          <p:cNvSpPr/>
          <p:nvPr/>
        </p:nvSpPr>
        <p:spPr>
          <a:xfrm>
            <a:off x="864037" y="4360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1033939" y="4452580"/>
            <a:ext cx="21562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2</a:t>
            </a:r>
            <a:endParaRPr lang="en-US" sz="2916"/>
          </a:p>
        </p:txBody>
      </p:sp>
      <p:sp>
        <p:nvSpPr>
          <p:cNvPr id="13" name="Text 8"/>
          <p:cNvSpPr/>
          <p:nvPr/>
        </p:nvSpPr>
        <p:spPr>
          <a:xfrm>
            <a:off x="1666280" y="436006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Microfone</a:t>
            </a:r>
            <a:endParaRPr lang="en-US" sz="2430"/>
          </a:p>
        </p:txBody>
      </p:sp>
      <p:sp>
        <p:nvSpPr>
          <p:cNvPr id="14" name="Text 9"/>
          <p:cNvSpPr/>
          <p:nvPr/>
        </p:nvSpPr>
        <p:spPr>
          <a:xfrm>
            <a:off x="1666280" y="4893945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Para interação nas aulas.</a:t>
            </a:r>
            <a:endParaRPr lang="en-US" sz="1944"/>
          </a:p>
        </p:txBody>
      </p:sp>
      <p:sp>
        <p:nvSpPr>
          <p:cNvPr id="15" name="Shape 10"/>
          <p:cNvSpPr/>
          <p:nvPr/>
        </p:nvSpPr>
        <p:spPr>
          <a:xfrm>
            <a:off x="864037" y="581346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1030843" y="5905976"/>
            <a:ext cx="221813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3</a:t>
            </a:r>
            <a:endParaRPr lang="en-US" sz="2916"/>
          </a:p>
        </p:txBody>
      </p:sp>
      <p:sp>
        <p:nvSpPr>
          <p:cNvPr id="17" name="Text 12"/>
          <p:cNvSpPr/>
          <p:nvPr/>
        </p:nvSpPr>
        <p:spPr>
          <a:xfrm>
            <a:off x="1666280" y="5813465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Webcam</a:t>
            </a:r>
            <a:endParaRPr lang="en-US" sz="2430"/>
          </a:p>
        </p:txBody>
      </p:sp>
      <p:sp>
        <p:nvSpPr>
          <p:cNvPr id="18" name="Text 13"/>
          <p:cNvSpPr/>
          <p:nvPr/>
        </p:nvSpPr>
        <p:spPr>
          <a:xfrm>
            <a:off x="1666280" y="6347341"/>
            <a:ext cx="661368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Para interação com mentores.</a:t>
            </a:r>
            <a:endParaRPr lang="en-US" sz="1944"/>
          </a:p>
        </p:txBody>
      </p:sp>
      <p:pic>
        <p:nvPicPr>
          <p:cNvPr id="20" name="Imagem 19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FD3D9927-4458-953C-C3C3-907317BC8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2" name="Google Shape;166;p29">
            <a:extLst>
              <a:ext uri="{FF2B5EF4-FFF2-40B4-BE49-F238E27FC236}">
                <a16:creationId xmlns:a16="http://schemas.microsoft.com/office/drawing/2014/main" id="{EAFC3862-ED92-6871-6835-9746AE2B2895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729" y="2394347"/>
            <a:ext cx="4868942" cy="344078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64037" y="1800344"/>
            <a:ext cx="723388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ENCONTRO DAS AULAS</a:t>
            </a:r>
            <a:endParaRPr lang="en-US" sz="4860"/>
          </a:p>
        </p:txBody>
      </p:sp>
      <p:sp>
        <p:nvSpPr>
          <p:cNvPr id="7" name="Shape 2"/>
          <p:cNvSpPr/>
          <p:nvPr/>
        </p:nvSpPr>
        <p:spPr>
          <a:xfrm>
            <a:off x="1218962" y="2942153"/>
            <a:ext cx="30837" cy="3486983"/>
          </a:xfrm>
          <a:prstGeom prst="roundRect">
            <a:avLst>
              <a:gd name="adj" fmla="val 336262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3"/>
          <p:cNvSpPr/>
          <p:nvPr/>
        </p:nvSpPr>
        <p:spPr>
          <a:xfrm>
            <a:off x="1512034" y="3482042"/>
            <a:ext cx="864037" cy="30837"/>
          </a:xfrm>
          <a:prstGeom prst="roundRect">
            <a:avLst>
              <a:gd name="adj" fmla="val 336262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4"/>
          <p:cNvSpPr/>
          <p:nvPr/>
        </p:nvSpPr>
        <p:spPr>
          <a:xfrm>
            <a:off x="956608" y="321980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5"/>
          <p:cNvSpPr/>
          <p:nvPr/>
        </p:nvSpPr>
        <p:spPr>
          <a:xfrm>
            <a:off x="1159133" y="3312319"/>
            <a:ext cx="150376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1</a:t>
            </a:r>
            <a:endParaRPr lang="en-US" sz="2916"/>
          </a:p>
        </p:txBody>
      </p:sp>
      <p:sp>
        <p:nvSpPr>
          <p:cNvPr id="11" name="Text 6"/>
          <p:cNvSpPr/>
          <p:nvPr/>
        </p:nvSpPr>
        <p:spPr>
          <a:xfrm>
            <a:off x="2592110" y="3188970"/>
            <a:ext cx="3145393" cy="38576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00" b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De Segunda a </a:t>
            </a:r>
            <a:r>
              <a:rPr lang="en-US" sz="2400" b="1" err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Sexta</a:t>
            </a:r>
            <a:endParaRPr lang="en-US" sz="2430" err="1"/>
          </a:p>
        </p:txBody>
      </p:sp>
      <p:sp>
        <p:nvSpPr>
          <p:cNvPr id="12" name="Text 7"/>
          <p:cNvSpPr/>
          <p:nvPr/>
        </p:nvSpPr>
        <p:spPr>
          <a:xfrm>
            <a:off x="2592110" y="3722846"/>
            <a:ext cx="5687854" cy="39504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Das 09:00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às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12:00 (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Turma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matutina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)</a:t>
            </a:r>
            <a:endParaRPr lang="en-US" sz="1900">
              <a:solidFill>
                <a:srgbClr val="000000"/>
              </a:solidFill>
              <a:latin typeface="Eudoxus Sans" pitchFamily="34" charset="0"/>
              <a:ea typeface="Eudoxus Sans"/>
              <a:cs typeface="Eudoxus Sans" pitchFamily="34" charset="-120"/>
            </a:endParaRPr>
          </a:p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Das 19:00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às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22:00 </a:t>
            </a:r>
            <a:r>
              <a:rPr lang="en-US" sz="1900">
                <a:solidFill>
                  <a:srgbClr val="272525"/>
                </a:solidFill>
                <a:ea typeface="+mn-lt"/>
                <a:cs typeface="+mn-lt"/>
              </a:rPr>
              <a:t>(</a:t>
            </a:r>
            <a:r>
              <a:rPr lang="en-US" sz="1900" err="1">
                <a:solidFill>
                  <a:srgbClr val="272525"/>
                </a:solidFill>
                <a:ea typeface="+mn-lt"/>
                <a:cs typeface="+mn-lt"/>
              </a:rPr>
              <a:t>Turma</a:t>
            </a:r>
            <a:r>
              <a:rPr lang="en-US" sz="1900">
                <a:solidFill>
                  <a:srgbClr val="272525"/>
                </a:solidFill>
                <a:ea typeface="+mn-lt"/>
                <a:cs typeface="+mn-lt"/>
              </a:rPr>
              <a:t> </a:t>
            </a:r>
            <a:r>
              <a:rPr lang="en-US" sz="1900" err="1">
                <a:solidFill>
                  <a:srgbClr val="272525"/>
                </a:solidFill>
                <a:ea typeface="+mn-lt"/>
                <a:cs typeface="+mn-lt"/>
              </a:rPr>
              <a:t>noturna</a:t>
            </a:r>
            <a:r>
              <a:rPr lang="en-US" sz="1900">
                <a:solidFill>
                  <a:srgbClr val="272525"/>
                </a:solidFill>
                <a:ea typeface="+mn-lt"/>
                <a:cs typeface="+mn-lt"/>
              </a:rPr>
              <a:t>)</a:t>
            </a:r>
            <a:endParaRPr lang="en-US" sz="1900">
              <a:latin typeface="Calibri"/>
              <a:cs typeface="Calibri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512034" y="5151418"/>
            <a:ext cx="864037" cy="30837"/>
          </a:xfrm>
          <a:prstGeom prst="roundRect">
            <a:avLst>
              <a:gd name="adj" fmla="val 336262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9"/>
          <p:cNvSpPr/>
          <p:nvPr/>
        </p:nvSpPr>
        <p:spPr>
          <a:xfrm>
            <a:off x="956608" y="488918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1126510" y="4981694"/>
            <a:ext cx="21562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2</a:t>
            </a:r>
            <a:endParaRPr lang="en-US" sz="2916"/>
          </a:p>
        </p:txBody>
      </p:sp>
      <p:sp>
        <p:nvSpPr>
          <p:cNvPr id="16" name="Text 11"/>
          <p:cNvSpPr/>
          <p:nvPr/>
        </p:nvSpPr>
        <p:spPr>
          <a:xfrm>
            <a:off x="2592110" y="4858345"/>
            <a:ext cx="3086100" cy="38576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038"/>
              </a:lnSpc>
            </a:pPr>
            <a:r>
              <a:rPr lang="en-US" sz="2400" b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Dias de </a:t>
            </a:r>
            <a:r>
              <a:rPr lang="en-US" sz="2400" b="1" err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Competências</a:t>
            </a:r>
            <a:r>
              <a:rPr lang="en-US" sz="2400" b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 </a:t>
            </a:r>
            <a:r>
              <a:rPr lang="en-US" sz="2400" b="1" err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Profissionais</a:t>
            </a:r>
            <a:endParaRPr lang="en-US" sz="2430" err="1">
              <a:latin typeface="p22-mackinac-pro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592110" y="5392222"/>
            <a:ext cx="5687854" cy="790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Ocorrem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em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dias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específicos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 para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conhecer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os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dias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 basta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consultar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a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Cartilha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do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Aluno</a:t>
            </a:r>
          </a:p>
        </p:txBody>
      </p:sp>
      <p:pic>
        <p:nvPicPr>
          <p:cNvPr id="19" name="Imagem 18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7C8B60DB-9E42-6977-FED0-01F4099C2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1" name="Google Shape;166;p29">
            <a:extLst>
              <a:ext uri="{FF2B5EF4-FFF2-40B4-BE49-F238E27FC236}">
                <a16:creationId xmlns:a16="http://schemas.microsoft.com/office/drawing/2014/main" id="{6E9870E0-7036-41E5-A6E2-1C754867FCBD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64037" y="2795588"/>
            <a:ext cx="6973372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AMBIENTE DAS AULAS</a:t>
            </a:r>
            <a:endParaRPr lang="en-US" sz="4860"/>
          </a:p>
        </p:txBody>
      </p:sp>
      <p:sp>
        <p:nvSpPr>
          <p:cNvPr id="5" name="Text 2"/>
          <p:cNvSpPr/>
          <p:nvPr/>
        </p:nvSpPr>
        <p:spPr>
          <a:xfrm>
            <a:off x="864037" y="4184213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Aulas Técnicas</a:t>
            </a:r>
            <a:endParaRPr lang="en-US" sz="2430"/>
          </a:p>
        </p:txBody>
      </p:sp>
      <p:sp>
        <p:nvSpPr>
          <p:cNvPr id="6" name="Text 3"/>
          <p:cNvSpPr/>
          <p:nvPr/>
        </p:nvSpPr>
        <p:spPr>
          <a:xfrm>
            <a:off x="864037" y="4816793"/>
            <a:ext cx="6150054" cy="39504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110"/>
              </a:lnSpc>
            </a:pPr>
            <a:endParaRPr lang="en-US" sz="1900">
              <a:solidFill>
                <a:srgbClr val="272525"/>
              </a:solidFill>
              <a:ea typeface="Eudoxus Sans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3929" y="4184213"/>
            <a:ext cx="3668197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Aulas Comportamentais</a:t>
            </a:r>
            <a:endParaRPr lang="en-US" sz="2430"/>
          </a:p>
        </p:txBody>
      </p:sp>
      <p:sp>
        <p:nvSpPr>
          <p:cNvPr id="8" name="Text 5"/>
          <p:cNvSpPr/>
          <p:nvPr/>
        </p:nvSpPr>
        <p:spPr>
          <a:xfrm>
            <a:off x="3509129" y="4816793"/>
            <a:ext cx="6150054" cy="39504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ea typeface="+mn-lt"/>
                <a:cs typeface="+mn-lt"/>
              </a:rPr>
              <a:t>Google Meet e </a:t>
            </a:r>
            <a:r>
              <a:rPr lang="en-US" sz="1900">
                <a:solidFill>
                  <a:srgbClr val="272525"/>
                </a:solidFill>
                <a:ea typeface="Eudoxus Sans"/>
                <a:cs typeface="+mn-lt"/>
              </a:rPr>
              <a:t>Google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Classroom.</a:t>
            </a:r>
            <a:endParaRPr lang="en-US" sz="1900">
              <a:latin typeface="Eudoxus Sans"/>
              <a:ea typeface="Eudoxus Sans"/>
              <a:cs typeface="Calibri"/>
            </a:endParaRPr>
          </a:p>
        </p:txBody>
      </p:sp>
      <p:pic>
        <p:nvPicPr>
          <p:cNvPr id="10" name="Imagem 9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E6630E5F-20D3-BE9E-F26D-BDE3A82AA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12" name="Google Shape;166;p29">
            <a:extLst>
              <a:ext uri="{FF2B5EF4-FFF2-40B4-BE49-F238E27FC236}">
                <a16:creationId xmlns:a16="http://schemas.microsoft.com/office/drawing/2014/main" id="{94C38BC9-982F-2521-A45A-6745C488441E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3" y="2472095"/>
            <a:ext cx="4928116" cy="328541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67926" y="792242"/>
            <a:ext cx="7580948" cy="1465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770"/>
              </a:lnSpc>
              <a:buNone/>
            </a:pPr>
            <a:r>
              <a:rPr lang="en-US" sz="4616" b="1">
                <a:solidFill>
                  <a:srgbClr val="000000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Gravações das Aulas Técnicas</a:t>
            </a:r>
            <a:endParaRPr lang="en-US" sz="4616"/>
          </a:p>
        </p:txBody>
      </p:sp>
      <p:sp>
        <p:nvSpPr>
          <p:cNvPr id="7" name="Shape 2"/>
          <p:cNvSpPr/>
          <p:nvPr/>
        </p:nvSpPr>
        <p:spPr>
          <a:xfrm>
            <a:off x="6267926" y="2843570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3"/>
          <p:cNvSpPr/>
          <p:nvPr/>
        </p:nvSpPr>
        <p:spPr>
          <a:xfrm>
            <a:off x="6443901" y="2918936"/>
            <a:ext cx="150495" cy="351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69"/>
              </a:lnSpc>
              <a:buNone/>
            </a:pPr>
            <a:r>
              <a:rPr lang="en-US" sz="2769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1</a:t>
            </a:r>
            <a:endParaRPr lang="en-US" sz="2769"/>
          </a:p>
        </p:txBody>
      </p:sp>
      <p:sp>
        <p:nvSpPr>
          <p:cNvPr id="9" name="Text 4"/>
          <p:cNvSpPr/>
          <p:nvPr/>
        </p:nvSpPr>
        <p:spPr>
          <a:xfrm>
            <a:off x="6993612" y="2843570"/>
            <a:ext cx="2930962" cy="3663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85"/>
              </a:lnSpc>
              <a:buNone/>
            </a:pPr>
            <a:r>
              <a:rPr lang="en-US" sz="2308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Acesso Online</a:t>
            </a:r>
            <a:endParaRPr lang="en-US" sz="2308"/>
          </a:p>
        </p:txBody>
      </p:sp>
      <p:sp>
        <p:nvSpPr>
          <p:cNvPr id="10" name="Text 5"/>
          <p:cNvSpPr/>
          <p:nvPr/>
        </p:nvSpPr>
        <p:spPr>
          <a:xfrm>
            <a:off x="6993612" y="3343870"/>
            <a:ext cx="6855262" cy="7146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2813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 pitchFamily="34" charset="-122"/>
                <a:cs typeface="Inter" pitchFamily="34" charset="-120"/>
              </a:rPr>
              <a:t>As aulas serão gravadas e disponibilizadas para acesso online por</a:t>
            </a:r>
            <a:r>
              <a:rPr lang="en-US" sz="1750" b="1">
                <a:solidFill>
                  <a:srgbClr val="7030A0"/>
                </a:solidFill>
                <a:latin typeface="Inter"/>
                <a:ea typeface="Inter" pitchFamily="34" charset="-122"/>
                <a:cs typeface="Inter" pitchFamily="34" charset="-120"/>
              </a:rPr>
              <a:t> sete dias.</a:t>
            </a:r>
            <a:endParaRPr lang="en-US" sz="1750" b="1">
              <a:solidFill>
                <a:srgbClr val="7030A0"/>
              </a:solidFill>
              <a:latin typeface="Inter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267926" y="4532948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6419374" y="4608314"/>
            <a:ext cx="199430" cy="351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69"/>
              </a:lnSpc>
              <a:buNone/>
            </a:pPr>
            <a:r>
              <a:rPr lang="en-US" sz="2769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2</a:t>
            </a:r>
            <a:endParaRPr lang="en-US" sz="2769"/>
          </a:p>
        </p:txBody>
      </p:sp>
      <p:sp>
        <p:nvSpPr>
          <p:cNvPr id="13" name="Text 8"/>
          <p:cNvSpPr/>
          <p:nvPr/>
        </p:nvSpPr>
        <p:spPr>
          <a:xfrm>
            <a:off x="6993612" y="4532948"/>
            <a:ext cx="2930962" cy="366355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ts val="2885"/>
              </a:lnSpc>
              <a:buNone/>
            </a:pPr>
            <a:r>
              <a:rPr lang="en-US" sz="2300" b="1" err="1">
                <a:solidFill>
                  <a:srgbClr val="272525"/>
                </a:solidFill>
                <a:latin typeface="Petrona"/>
                <a:ea typeface="Petrona"/>
              </a:rPr>
              <a:t>Expiração</a:t>
            </a:r>
            <a:endParaRPr lang="en-US" sz="2300" err="1">
              <a:latin typeface="Petrona"/>
              <a:ea typeface="Petrona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993612" y="5033248"/>
            <a:ext cx="6855262" cy="7146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2813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Após esse período, as </a:t>
            </a:r>
            <a:r>
              <a:rPr lang="en-US" sz="175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gravações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serão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b="1" err="1">
                <a:solidFill>
                  <a:srgbClr val="FF0000"/>
                </a:solidFill>
                <a:latin typeface="Inter"/>
                <a:ea typeface="Inter"/>
                <a:cs typeface="Inter" pitchFamily="34" charset="-120"/>
              </a:rPr>
              <a:t>automaticamente</a:t>
            </a:r>
            <a:r>
              <a:rPr lang="en-US" sz="1750" b="1">
                <a:solidFill>
                  <a:srgbClr val="FF0000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b="1" err="1">
                <a:solidFill>
                  <a:srgbClr val="FF0000"/>
                </a:solidFill>
                <a:latin typeface="Inter"/>
                <a:ea typeface="Inter"/>
                <a:cs typeface="Inter" pitchFamily="34" charset="-120"/>
              </a:rPr>
              <a:t>excluídas</a:t>
            </a:r>
            <a:r>
              <a:rPr lang="en-US" sz="1750">
                <a:latin typeface="Inter"/>
                <a:ea typeface="Inter"/>
                <a:cs typeface="Inter" pitchFamily="34" charset="-120"/>
              </a:rPr>
              <a:t>.</a:t>
            </a:r>
            <a:endParaRPr lang="en-US" sz="1750">
              <a:latin typeface="Inter"/>
              <a:ea typeface="Inter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267926" y="6222325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6419612" y="6297692"/>
            <a:ext cx="199072" cy="351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69"/>
              </a:lnSpc>
              <a:buNone/>
            </a:pPr>
            <a:r>
              <a:rPr lang="en-US" sz="2769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3</a:t>
            </a:r>
            <a:endParaRPr lang="en-US" sz="2769"/>
          </a:p>
        </p:txBody>
      </p:sp>
      <p:sp>
        <p:nvSpPr>
          <p:cNvPr id="17" name="Text 12"/>
          <p:cNvSpPr/>
          <p:nvPr/>
        </p:nvSpPr>
        <p:spPr>
          <a:xfrm>
            <a:off x="6993612" y="6222325"/>
            <a:ext cx="3810714" cy="3663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85"/>
              </a:lnSpc>
              <a:buNone/>
            </a:pPr>
            <a:r>
              <a:rPr lang="en-US" sz="2308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Compartilhamento Proibido</a:t>
            </a:r>
            <a:endParaRPr lang="en-US" sz="2308"/>
          </a:p>
        </p:txBody>
      </p:sp>
      <p:sp>
        <p:nvSpPr>
          <p:cNvPr id="18" name="Text 13"/>
          <p:cNvSpPr/>
          <p:nvPr/>
        </p:nvSpPr>
        <p:spPr>
          <a:xfrm>
            <a:off x="6993612" y="6722626"/>
            <a:ext cx="6855262" cy="7146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2813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Solicitamos que </a:t>
            </a:r>
            <a:r>
              <a:rPr lang="en-US" sz="1750" b="1">
                <a:solidFill>
                  <a:srgbClr val="FF0000"/>
                </a:solidFill>
                <a:latin typeface="Inter"/>
                <a:ea typeface="Inter"/>
                <a:cs typeface="Inter" pitchFamily="34" charset="-120"/>
              </a:rPr>
              <a:t>não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façam o</a:t>
            </a:r>
            <a:r>
              <a:rPr lang="en-US" sz="1750" b="1">
                <a:solidFill>
                  <a:srgbClr val="FFFF00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b="1">
                <a:solidFill>
                  <a:schemeClr val="accent2"/>
                </a:solidFill>
                <a:latin typeface="Inter"/>
                <a:ea typeface="Inter"/>
                <a:cs typeface="Inter" pitchFamily="34" charset="-120"/>
              </a:rPr>
              <a:t>download 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ou </a:t>
            </a:r>
            <a:r>
              <a:rPr lang="en-US" sz="1750" b="1">
                <a:solidFill>
                  <a:srgbClr val="00B0F0"/>
                </a:solidFill>
                <a:latin typeface="Inter"/>
                <a:ea typeface="Inter"/>
                <a:cs typeface="Inter" pitchFamily="34" charset="-120"/>
              </a:rPr>
              <a:t>compartilhem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as gravações.</a:t>
            </a:r>
            <a:endParaRPr lang="en-US" sz="1750">
              <a:latin typeface="Inter"/>
              <a:ea typeface="Inter"/>
            </a:endParaRPr>
          </a:p>
        </p:txBody>
      </p:sp>
      <p:pic>
        <p:nvPicPr>
          <p:cNvPr id="20" name="Imagem 19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494DD874-07E4-1737-5C6E-20E8E66A2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2" name="Google Shape;166;p29">
            <a:extLst>
              <a:ext uri="{FF2B5EF4-FFF2-40B4-BE49-F238E27FC236}">
                <a16:creationId xmlns:a16="http://schemas.microsoft.com/office/drawing/2014/main" id="{B35F11DA-6026-E2BD-EEEC-9C603D605F87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0588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04" y="2350651"/>
            <a:ext cx="4969193" cy="352817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10300" y="917019"/>
            <a:ext cx="5765363" cy="6787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44"/>
              </a:lnSpc>
              <a:buNone/>
            </a:pPr>
            <a:r>
              <a:rPr lang="en-US" sz="4276" b="1">
                <a:solidFill>
                  <a:srgbClr val="000000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Projeto Final Integrado</a:t>
            </a:r>
            <a:endParaRPr lang="en-US" sz="4276"/>
          </a:p>
        </p:txBody>
      </p:sp>
      <p:sp>
        <p:nvSpPr>
          <p:cNvPr id="7" name="Shape 2"/>
          <p:cNvSpPr/>
          <p:nvPr/>
        </p:nvSpPr>
        <p:spPr>
          <a:xfrm>
            <a:off x="6210300" y="1906072"/>
            <a:ext cx="7696200" cy="1554004"/>
          </a:xfrm>
          <a:prstGeom prst="roundRect">
            <a:avLst>
              <a:gd name="adj" fmla="val 559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3"/>
          <p:cNvSpPr/>
          <p:nvPr/>
        </p:nvSpPr>
        <p:spPr>
          <a:xfrm>
            <a:off x="6424732" y="2120503"/>
            <a:ext cx="3700105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Integração de Conhecimentos</a:t>
            </a:r>
            <a:endParaRPr lang="en-US" sz="2138"/>
          </a:p>
        </p:txBody>
      </p:sp>
      <p:sp>
        <p:nvSpPr>
          <p:cNvPr id="9" name="Text 4"/>
          <p:cNvSpPr/>
          <p:nvPr/>
        </p:nvSpPr>
        <p:spPr>
          <a:xfrm>
            <a:off x="6424732" y="2583894"/>
            <a:ext cx="7267337" cy="6617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606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O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projeto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final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integrará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os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conhecimentos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adquiridos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nas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aulas de Competências Profissionais e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Técnicas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,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proporcionando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uma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experiência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desafiadora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.</a:t>
            </a:r>
            <a:endParaRPr lang="en-US" sz="1600">
              <a:latin typeface="Inter"/>
              <a:ea typeface="Inter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210300" y="3666887"/>
            <a:ext cx="7696200" cy="1554004"/>
          </a:xfrm>
          <a:prstGeom prst="roundRect">
            <a:avLst>
              <a:gd name="adj" fmla="val 559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6"/>
          <p:cNvSpPr/>
          <p:nvPr/>
        </p:nvSpPr>
        <p:spPr>
          <a:xfrm>
            <a:off x="6424732" y="3881318"/>
            <a:ext cx="2714982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Trabalho em Equipe</a:t>
            </a:r>
            <a:endParaRPr lang="en-US" sz="2138"/>
          </a:p>
        </p:txBody>
      </p:sp>
      <p:sp>
        <p:nvSpPr>
          <p:cNvPr id="12" name="Text 7"/>
          <p:cNvSpPr/>
          <p:nvPr/>
        </p:nvSpPr>
        <p:spPr>
          <a:xfrm>
            <a:off x="6424732" y="4344710"/>
            <a:ext cx="7267337" cy="661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sz="162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trabalhará em equipe, aprendendo a colaborar, comunicar e gerenciar tarefas em conjunto.</a:t>
            </a:r>
            <a:endParaRPr lang="en-US" sz="1629"/>
          </a:p>
        </p:txBody>
      </p:sp>
      <p:sp>
        <p:nvSpPr>
          <p:cNvPr id="13" name="Shape 8"/>
          <p:cNvSpPr/>
          <p:nvPr/>
        </p:nvSpPr>
        <p:spPr>
          <a:xfrm>
            <a:off x="6210300" y="5427702"/>
            <a:ext cx="7696200" cy="1884878"/>
          </a:xfrm>
          <a:prstGeom prst="roundRect">
            <a:avLst>
              <a:gd name="adj" fmla="val 46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6424732" y="5642134"/>
            <a:ext cx="2714982" cy="339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72"/>
              </a:lnSpc>
              <a:buNone/>
            </a:pPr>
            <a:r>
              <a:rPr lang="en-US" sz="2138" b="1">
                <a:solidFill>
                  <a:srgbClr val="272525"/>
                </a:solidFill>
                <a:latin typeface="Petrona" pitchFamily="34" charset="0"/>
                <a:ea typeface="Petrona" pitchFamily="34" charset="-122"/>
                <a:cs typeface="Petrona" pitchFamily="34" charset="-120"/>
              </a:rPr>
              <a:t>Apresentação Final</a:t>
            </a:r>
            <a:endParaRPr lang="en-US" sz="2138"/>
          </a:p>
        </p:txBody>
      </p:sp>
      <p:sp>
        <p:nvSpPr>
          <p:cNvPr id="15" name="Text 10"/>
          <p:cNvSpPr/>
          <p:nvPr/>
        </p:nvSpPr>
        <p:spPr>
          <a:xfrm>
            <a:off x="6424732" y="6105525"/>
            <a:ext cx="7267337" cy="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sz="162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apresentação do projeto final será gravada e disponibilizada para os parceiros da Escola da Nuvem, permitindo que você exiba seu trabalho para um público maior.</a:t>
            </a:r>
            <a:endParaRPr lang="en-US" sz="1629"/>
          </a:p>
        </p:txBody>
      </p:sp>
      <p:pic>
        <p:nvPicPr>
          <p:cNvPr id="17" name="Imagem 16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8BB311AA-12A8-37F1-3481-1116D69A40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19" name="Google Shape;166;p29">
            <a:extLst>
              <a:ext uri="{FF2B5EF4-FFF2-40B4-BE49-F238E27FC236}">
                <a16:creationId xmlns:a16="http://schemas.microsoft.com/office/drawing/2014/main" id="{8845828B-98BD-7FB7-6353-A083B5E9874F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3896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704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79828" y="2912269"/>
            <a:ext cx="11670744" cy="13351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257"/>
              </a:lnSpc>
              <a:buNone/>
            </a:pPr>
            <a:r>
              <a:rPr lang="en-US" sz="4206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REQUISITOS PARA GRADUAÇÃO NO AWS re/Start</a:t>
            </a:r>
            <a:endParaRPr lang="en-US" sz="4206"/>
          </a:p>
        </p:txBody>
      </p:sp>
      <p:sp>
        <p:nvSpPr>
          <p:cNvPr id="6" name="Shape 2"/>
          <p:cNvSpPr/>
          <p:nvPr/>
        </p:nvSpPr>
        <p:spPr>
          <a:xfrm>
            <a:off x="1479828" y="4925020"/>
            <a:ext cx="5728573" cy="1245989"/>
          </a:xfrm>
          <a:prstGeom prst="roundRect">
            <a:avLst>
              <a:gd name="adj" fmla="val 72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1701046" y="5146238"/>
            <a:ext cx="2670572" cy="3337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103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Laboratórios</a:t>
            </a:r>
            <a:endParaRPr lang="en-US" sz="2103"/>
          </a:p>
        </p:txBody>
      </p:sp>
      <p:sp>
        <p:nvSpPr>
          <p:cNvPr id="8" name="Text 4"/>
          <p:cNvSpPr/>
          <p:nvPr/>
        </p:nvSpPr>
        <p:spPr>
          <a:xfrm>
            <a:off x="1701046" y="5490096"/>
            <a:ext cx="5035415" cy="40070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692"/>
              </a:lnSpc>
            </a:pPr>
            <a:r>
              <a:rPr lang="en-US" sz="1650" b="1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Completar</a:t>
            </a:r>
            <a:r>
              <a:rPr lang="en-US" sz="1650" b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 </a:t>
            </a:r>
            <a:r>
              <a:rPr lang="en-US" sz="1650" b="1">
                <a:solidFill>
                  <a:srgbClr val="0070C0"/>
                </a:solidFill>
                <a:latin typeface="Eudoxus Sans"/>
                <a:ea typeface="Eudoxus Sans"/>
                <a:cs typeface="Eudoxus Sans" pitchFamily="34" charset="-120"/>
              </a:rPr>
              <a:t>submeter </a:t>
            </a:r>
            <a:r>
              <a:rPr lang="en-US" sz="1650" b="1" err="1">
                <a:solidFill>
                  <a:srgbClr val="0070C0"/>
                </a:solidFill>
                <a:latin typeface="Eudoxus Sans"/>
                <a:ea typeface="Eudoxus Sans"/>
                <a:cs typeface="Eudoxus Sans" pitchFamily="34" charset="-120"/>
              </a:rPr>
              <a:t>todos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os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</a:t>
            </a:r>
            <a:r>
              <a:rPr lang="en-US" sz="1650" b="1" err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laboratórios</a:t>
            </a:r>
            <a:r>
              <a:rPr lang="en-US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, </a:t>
            </a:r>
            <a:endParaRPr lang="en-US" sz="1650" b="1" err="1">
              <a:solidFill>
                <a:srgbClr val="7030A0"/>
              </a:solidFill>
              <a:latin typeface="Eudoxus Sans"/>
              <a:ea typeface="Eudoxus Sans"/>
              <a:cs typeface="Eudoxus Sans" pitchFamily="34" charset="-120"/>
            </a:endParaRPr>
          </a:p>
          <a:p>
            <a:pPr>
              <a:lnSpc>
                <a:spcPts val="2692"/>
              </a:lnSpc>
            </a:pPr>
            <a:r>
              <a:rPr lang="en-US" sz="1650" b="1" err="1">
                <a:latin typeface="Eudoxus Sans"/>
                <a:ea typeface="Eudoxus Sans"/>
                <a:cs typeface="Eudoxus Sans" pitchFamily="34" charset="-120"/>
              </a:rPr>
              <a:t>atingindo</a:t>
            </a:r>
            <a:r>
              <a:rPr lang="en-US" sz="1650" b="1">
                <a:latin typeface="Eudoxus Sans"/>
                <a:ea typeface="Eudoxus Sans"/>
                <a:cs typeface="Eudoxus Sans" pitchFamily="34" charset="-120"/>
              </a:rPr>
              <a:t> 100% de </a:t>
            </a:r>
            <a:r>
              <a:rPr lang="en-US" sz="1650" b="1" err="1">
                <a:latin typeface="Eudoxus Sans"/>
                <a:ea typeface="Eudoxus Sans"/>
                <a:cs typeface="Eudoxus Sans" pitchFamily="34" charset="-120"/>
              </a:rPr>
              <a:t>pontuação</a:t>
            </a:r>
            <a:endParaRPr lang="en-US" sz="1650" b="1">
              <a:latin typeface="Eudoxus Sans"/>
              <a:ea typeface="Eudoxus Sans"/>
              <a:cs typeface="Eudoxus Sans" pitchFamily="34" charset="-120"/>
            </a:endParaRPr>
          </a:p>
          <a:p>
            <a:pPr>
              <a:lnSpc>
                <a:spcPts val="2692"/>
              </a:lnSpc>
            </a:pPr>
            <a:endParaRPr lang="en-US" sz="1650" b="1">
              <a:solidFill>
                <a:srgbClr val="7030A0"/>
              </a:solidFill>
              <a:latin typeface="Eudoxus Sans"/>
              <a:ea typeface="Eudoxus San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421999" y="4925020"/>
            <a:ext cx="5728573" cy="1245989"/>
          </a:xfrm>
          <a:prstGeom prst="roundRect">
            <a:avLst>
              <a:gd name="adj" fmla="val 72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7643217" y="5146238"/>
            <a:ext cx="2670572" cy="3337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103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KC's (Quizzes)</a:t>
            </a:r>
            <a:endParaRPr lang="en-US" sz="2103"/>
          </a:p>
        </p:txBody>
      </p:sp>
      <p:sp>
        <p:nvSpPr>
          <p:cNvPr id="11" name="Text 7"/>
          <p:cNvSpPr/>
          <p:nvPr/>
        </p:nvSpPr>
        <p:spPr>
          <a:xfrm>
            <a:off x="7643217" y="5608082"/>
            <a:ext cx="5286137" cy="34170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692"/>
              </a:lnSpc>
            </a:pP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Realizar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todos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os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Quizzes e </a:t>
            </a:r>
            <a:r>
              <a:rPr lang="en-US" sz="1650" b="1" err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pontuar</a:t>
            </a:r>
            <a:r>
              <a:rPr lang="en-US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igual</a:t>
            </a:r>
            <a:r>
              <a:rPr lang="en-US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ou</a:t>
            </a:r>
            <a:r>
              <a:rPr lang="en-US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maior</a:t>
            </a:r>
            <a:r>
              <a:rPr lang="en-US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 70% </a:t>
            </a:r>
            <a:r>
              <a:rPr lang="en-US" sz="1650" b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</a:t>
            </a:r>
            <a:endParaRPr lang="en-US" sz="1650" b="1">
              <a:solidFill>
                <a:srgbClr val="272525"/>
              </a:solidFill>
              <a:latin typeface="Eudoxus Sans"/>
              <a:ea typeface="Eudoxus San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479828" y="6384608"/>
            <a:ext cx="5728573" cy="1245989"/>
          </a:xfrm>
          <a:prstGeom prst="roundRect">
            <a:avLst>
              <a:gd name="adj" fmla="val 72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701046" y="6605826"/>
            <a:ext cx="2670572" cy="3337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103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Presença</a:t>
            </a:r>
            <a:endParaRPr lang="en-US" sz="2103"/>
          </a:p>
        </p:txBody>
      </p:sp>
      <p:sp>
        <p:nvSpPr>
          <p:cNvPr id="14" name="Text 10"/>
          <p:cNvSpPr/>
          <p:nvPr/>
        </p:nvSpPr>
        <p:spPr>
          <a:xfrm>
            <a:off x="1701046" y="7010519"/>
            <a:ext cx="5286137" cy="39885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692"/>
              </a:lnSpc>
            </a:pP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Ter</a:t>
            </a:r>
            <a:r>
              <a:rPr lang="en-US" sz="1650" b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maior</a:t>
            </a:r>
            <a:r>
              <a:rPr lang="en-US" sz="1650" b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ou</a:t>
            </a:r>
            <a:r>
              <a:rPr lang="en-US" sz="1650" b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igual</a:t>
            </a:r>
            <a:r>
              <a:rPr lang="en-US" sz="1650" b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 80%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de </a:t>
            </a:r>
            <a:r>
              <a:rPr lang="en-US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presença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nas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aulas.</a:t>
            </a:r>
            <a:endParaRPr lang="en-US" sz="1650">
              <a:solidFill>
                <a:srgbClr val="272525"/>
              </a:solidFill>
              <a:latin typeface="Eudoxus Sans"/>
              <a:ea typeface="Eudoxus San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421999" y="6384608"/>
            <a:ext cx="5728573" cy="1245989"/>
          </a:xfrm>
          <a:prstGeom prst="roundRect">
            <a:avLst>
              <a:gd name="adj" fmla="val 72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7643217" y="6605826"/>
            <a:ext cx="2670572" cy="3337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103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Slides</a:t>
            </a:r>
            <a:endParaRPr lang="en-US" sz="2103"/>
          </a:p>
        </p:txBody>
      </p:sp>
      <p:sp>
        <p:nvSpPr>
          <p:cNvPr id="17" name="Text 13"/>
          <p:cNvSpPr/>
          <p:nvPr/>
        </p:nvSpPr>
        <p:spPr>
          <a:xfrm>
            <a:off x="7643217" y="7067669"/>
            <a:ext cx="5286137" cy="3417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92"/>
              </a:lnSpc>
              <a:buNone/>
            </a:pPr>
            <a:r>
              <a:rPr lang="en-US" sz="1682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Consumir todos os slides.</a:t>
            </a:r>
            <a:endParaRPr lang="en-US" sz="1682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5D92C0B-8F22-DB11-84AC-016BD0067083}"/>
              </a:ext>
            </a:extLst>
          </p:cNvPr>
          <p:cNvSpPr/>
          <p:nvPr/>
        </p:nvSpPr>
        <p:spPr>
          <a:xfrm>
            <a:off x="1498562" y="4339610"/>
            <a:ext cx="9486270" cy="45729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ts val="2692"/>
              </a:lnSpc>
              <a:buNone/>
            </a:pP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O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ambiente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Canvas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vai</a:t>
            </a:r>
            <a:r>
              <a:rPr lang="en-US" sz="1650" b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pt-BR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graduar</a:t>
            </a:r>
            <a:r>
              <a:rPr lang="en-US" sz="1650" b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7030A0"/>
                </a:solidFill>
                <a:latin typeface="Eudoxus Sans"/>
                <a:ea typeface="Eudoxus Sans"/>
                <a:cs typeface="Eudoxus Sans" pitchFamily="34" charset="-120"/>
              </a:rPr>
              <a:t>automaticamente</a:t>
            </a:r>
            <a:r>
              <a:rPr lang="en-US" sz="1650" b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o </a:t>
            </a:r>
            <a:r>
              <a:rPr lang="en-US" sz="16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aluno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no </a:t>
            </a:r>
            <a:r>
              <a:rPr lang="en-US" sz="1650" b="1" err="1">
                <a:solidFill>
                  <a:srgbClr val="0070C0"/>
                </a:solidFill>
                <a:latin typeface="Eudoxus Sans"/>
                <a:ea typeface="Eudoxus Sans"/>
                <a:cs typeface="Eudoxus Sans" pitchFamily="34" charset="-120"/>
              </a:rPr>
              <a:t>fim</a:t>
            </a:r>
            <a:r>
              <a:rPr lang="en-US" sz="1650" b="1">
                <a:solidFill>
                  <a:srgbClr val="0070C0"/>
                </a:solidFill>
                <a:latin typeface="Eudoxus Sans"/>
                <a:ea typeface="Eudoxus Sans"/>
                <a:cs typeface="Eudoxus Sans" pitchFamily="34" charset="-120"/>
              </a:rPr>
              <a:t> do </a:t>
            </a:r>
            <a:r>
              <a:rPr lang="en-US" sz="1650" b="1" err="1">
                <a:solidFill>
                  <a:srgbClr val="0070C0"/>
                </a:solidFill>
                <a:latin typeface="Eudoxus Sans"/>
                <a:ea typeface="Eudoxus Sans"/>
                <a:cs typeface="Eudoxus Sans" pitchFamily="34" charset="-120"/>
              </a:rPr>
              <a:t>curso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 </a:t>
            </a:r>
            <a:r>
              <a:rPr lang="en-US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sem</a:t>
            </a:r>
            <a:r>
              <a:rPr lang="en-US" sz="1650" b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pt-BR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intervensão</a:t>
            </a:r>
            <a:r>
              <a:rPr lang="en-US" sz="1650" b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650" b="1" err="1">
                <a:solidFill>
                  <a:srgbClr val="FF0000"/>
                </a:solidFill>
                <a:latin typeface="Eudoxus Sans"/>
                <a:ea typeface="Eudoxus Sans"/>
                <a:cs typeface="Eudoxus Sans" pitchFamily="34" charset="-120"/>
              </a:rPr>
              <a:t>humana</a:t>
            </a:r>
            <a:r>
              <a:rPr lang="en-US" sz="16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.</a:t>
            </a:r>
            <a:endParaRPr lang="en-US" sz="1650">
              <a:latin typeface="Eudoxus Sans"/>
              <a:ea typeface="Eudoxus Sans"/>
            </a:endParaRPr>
          </a:p>
        </p:txBody>
      </p:sp>
      <p:pic>
        <p:nvPicPr>
          <p:cNvPr id="20" name="Imagem 19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DD082E1B-B497-CEFF-95A6-10F37982A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2" name="Google Shape;166;p29">
            <a:extLst>
              <a:ext uri="{FF2B5EF4-FFF2-40B4-BE49-F238E27FC236}">
                <a16:creationId xmlns:a16="http://schemas.microsoft.com/office/drawing/2014/main" id="{DBDBA98F-BB35-47BC-F84A-3988EC71E45E}"/>
              </a:ext>
            </a:extLst>
          </p:cNvPr>
          <p:cNvSpPr txBox="1"/>
          <p:nvPr/>
        </p:nvSpPr>
        <p:spPr>
          <a:xfrm>
            <a:off x="1028876" y="768506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9633-37D7-3EB2-E8DB-AC8CE33A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63ECB40-B0BF-11B6-AA48-8D701761E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F5310C5-8A2C-5E53-D9FA-69B59B75C9BC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m 17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2C544947-A393-7A18-8E8A-0F4C98F76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0"/>
            <a:ext cx="5486400" cy="8229600"/>
          </a:xfrm>
          <a:prstGeom prst="rect">
            <a:avLst/>
          </a:prstGeom>
        </p:spPr>
      </p:pic>
      <p:pic>
        <p:nvPicPr>
          <p:cNvPr id="23" name="Imagem 22" descr="Uma imagem com computador portátil, computador, vestuário, desenho&#10;&#10;Os conteúdos gerados por IA poderão estar incorretos.">
            <a:extLst>
              <a:ext uri="{FF2B5EF4-FFF2-40B4-BE49-F238E27FC236}">
                <a16:creationId xmlns:a16="http://schemas.microsoft.com/office/drawing/2014/main" id="{35DC3EBB-06B9-5069-6A36-47C743F20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371600"/>
            <a:ext cx="7829550" cy="5229225"/>
          </a:xfrm>
          <a:prstGeom prst="rect">
            <a:avLst/>
          </a:prstGeom>
        </p:spPr>
      </p:pic>
      <p:pic>
        <p:nvPicPr>
          <p:cNvPr id="20" name="Imagem 19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E09CC7C2-CB22-1FDD-8FFD-5F39C0530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2" name="Google Shape;166;p29">
            <a:extLst>
              <a:ext uri="{FF2B5EF4-FFF2-40B4-BE49-F238E27FC236}">
                <a16:creationId xmlns:a16="http://schemas.microsoft.com/office/drawing/2014/main" id="{023906A5-4DBB-DD05-EC35-90A89480CA55}"/>
              </a:ext>
            </a:extLst>
          </p:cNvPr>
          <p:cNvSpPr txBox="1"/>
          <p:nvPr/>
        </p:nvSpPr>
        <p:spPr>
          <a:xfrm>
            <a:off x="1028876" y="768506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5010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7341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41001" y="3337084"/>
            <a:ext cx="11948398" cy="1367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82"/>
              </a:lnSpc>
              <a:buNone/>
            </a:pPr>
            <a:r>
              <a:rPr lang="en-US" sz="4306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REQUISITOS PARA RECEBER O VOUCHER AWS</a:t>
            </a:r>
            <a:endParaRPr lang="en-US" sz="4306"/>
          </a:p>
        </p:txBody>
      </p:sp>
      <p:sp>
        <p:nvSpPr>
          <p:cNvPr id="7" name="Text 2"/>
          <p:cNvSpPr/>
          <p:nvPr/>
        </p:nvSpPr>
        <p:spPr>
          <a:xfrm>
            <a:off x="1559719" y="5892165"/>
            <a:ext cx="2734151" cy="3417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91"/>
              </a:lnSpc>
              <a:buNone/>
            </a:pPr>
            <a:r>
              <a:rPr lang="en-US" sz="2153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Aprovação no curso</a:t>
            </a:r>
            <a:endParaRPr lang="en-US" sz="2153"/>
          </a:p>
        </p:txBody>
      </p:sp>
      <p:sp>
        <p:nvSpPr>
          <p:cNvPr id="8" name="Text 3"/>
          <p:cNvSpPr/>
          <p:nvPr/>
        </p:nvSpPr>
        <p:spPr>
          <a:xfrm>
            <a:off x="1102519" y="6293643"/>
            <a:ext cx="5536763" cy="349925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756"/>
              </a:lnSpc>
            </a:pPr>
            <a:r>
              <a:rPr lang="en-US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Ser </a:t>
            </a:r>
            <a:r>
              <a:rPr lang="en-US" sz="17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aprovado</a:t>
            </a:r>
            <a:r>
              <a:rPr lang="en-US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no </a:t>
            </a:r>
            <a:r>
              <a:rPr lang="en-US" sz="17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módulo</a:t>
            </a:r>
            <a:r>
              <a:rPr lang="en-US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AWS re/Start.</a:t>
            </a:r>
            <a:endParaRPr lang="en-US" sz="1700">
              <a:latin typeface="Eudoxus Sans"/>
              <a:ea typeface="Eudoxus Sans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0114424" y="5892165"/>
            <a:ext cx="2734151" cy="3417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91"/>
              </a:lnSpc>
              <a:buNone/>
            </a:pPr>
            <a:r>
              <a:rPr lang="en-US" sz="2153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Compromisso</a:t>
            </a:r>
            <a:endParaRPr lang="en-US" sz="2153"/>
          </a:p>
        </p:txBody>
      </p:sp>
      <p:sp>
        <p:nvSpPr>
          <p:cNvPr id="11" name="Text 5"/>
          <p:cNvSpPr/>
          <p:nvPr/>
        </p:nvSpPr>
        <p:spPr>
          <a:xfrm>
            <a:off x="9304185" y="6293642"/>
            <a:ext cx="4755099" cy="6408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756"/>
              </a:lnSpc>
            </a:pPr>
            <a:r>
              <a:rPr lang="pt-BR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Comprometer</a:t>
            </a:r>
            <a:r>
              <a:rPr lang="en-US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-se a </a:t>
            </a:r>
            <a:r>
              <a:rPr lang="pt-BR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realizar o exame Cloud </a:t>
            </a:r>
            <a:r>
              <a:rPr lang="pt-BR" sz="17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Practitioner</a:t>
            </a:r>
            <a:r>
              <a:rPr lang="pt-BR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no prazo estipulado pela EDN. </a:t>
            </a:r>
          </a:p>
          <a:p>
            <a:pPr>
              <a:lnSpc>
                <a:spcPts val="2756"/>
              </a:lnSpc>
            </a:pPr>
            <a:r>
              <a:rPr lang="pt-BR" sz="17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Realizar de forma remota caso não encontre vaga nos centros presenciais no período estipulado.</a:t>
            </a:r>
            <a:endParaRPr lang="pt-BR" sz="1700">
              <a:solidFill>
                <a:srgbClr val="272525"/>
              </a:solidFill>
              <a:latin typeface="Eudoxus Sans"/>
              <a:ea typeface="Eudoxus Sans"/>
            </a:endParaRPr>
          </a:p>
        </p:txBody>
      </p:sp>
      <p:pic>
        <p:nvPicPr>
          <p:cNvPr id="13" name="Imagem 12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1ECBC5AA-62B4-060D-30EB-386288A53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15" name="Google Shape;166;p29">
            <a:extLst>
              <a:ext uri="{FF2B5EF4-FFF2-40B4-BE49-F238E27FC236}">
                <a16:creationId xmlns:a16="http://schemas.microsoft.com/office/drawing/2014/main" id="{413C4FA1-0F41-BBEC-A0A1-406BA8150B1F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E4E821C8-E214-A026-6109-ADA9F0C5933C}"/>
              </a:ext>
            </a:extLst>
          </p:cNvPr>
          <p:cNvSpPr/>
          <p:nvPr/>
        </p:nvSpPr>
        <p:spPr>
          <a:xfrm>
            <a:off x="1559719" y="5351145"/>
            <a:ext cx="2734151" cy="34170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ts val="2691"/>
              </a:lnSpc>
              <a:buNone/>
            </a:pPr>
            <a:r>
              <a:rPr lang="en-US" sz="2150" b="1">
                <a:solidFill>
                  <a:srgbClr val="272525"/>
                </a:solidFill>
                <a:latin typeface="p22-mackinac-pro"/>
                <a:ea typeface="p22-mackinac-pro"/>
                <a:cs typeface="p22-mackinac-pro" pitchFamily="34" charset="-120"/>
              </a:rPr>
              <a:t>1</a:t>
            </a:r>
            <a:endParaRPr lang="pt-PT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81F65C1-9960-B928-74DF-1410911C597E}"/>
              </a:ext>
            </a:extLst>
          </p:cNvPr>
          <p:cNvSpPr/>
          <p:nvPr/>
        </p:nvSpPr>
        <p:spPr>
          <a:xfrm>
            <a:off x="5522119" y="5351145"/>
            <a:ext cx="2734151" cy="34170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ts val="2691"/>
              </a:lnSpc>
              <a:buNone/>
            </a:pPr>
            <a:r>
              <a:rPr lang="en-US" sz="2150" b="1">
                <a:solidFill>
                  <a:srgbClr val="272525"/>
                </a:solidFill>
                <a:latin typeface="p22-mackinac-pro"/>
              </a:rPr>
              <a:t>2</a:t>
            </a:r>
            <a:endParaRPr lang="en-US" sz="2150" err="1">
              <a:latin typeface="p22-mackinac-pro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31EF334F-34C3-A26C-B19B-1E4988733B50}"/>
              </a:ext>
            </a:extLst>
          </p:cNvPr>
          <p:cNvSpPr/>
          <p:nvPr/>
        </p:nvSpPr>
        <p:spPr>
          <a:xfrm>
            <a:off x="9636919" y="5351145"/>
            <a:ext cx="2734151" cy="34170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ts val="2691"/>
              </a:lnSpc>
              <a:buNone/>
            </a:pPr>
            <a:r>
              <a:rPr lang="en-US" sz="2150" b="1">
                <a:solidFill>
                  <a:srgbClr val="272525"/>
                </a:solidFill>
                <a:latin typeface="p22-mackinac-pro"/>
              </a:rPr>
              <a:t>3</a:t>
            </a:r>
            <a:endParaRPr lang="en-US" sz="2150" err="1">
              <a:latin typeface="p22-mackinac-pro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7580F31-28D1-9533-2289-886642A53FF7}"/>
              </a:ext>
            </a:extLst>
          </p:cNvPr>
          <p:cNvSpPr/>
          <p:nvPr/>
        </p:nvSpPr>
        <p:spPr>
          <a:xfrm>
            <a:off x="5541784" y="5892166"/>
            <a:ext cx="2734151" cy="34170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ts val="2691"/>
              </a:lnSpc>
              <a:buNone/>
            </a:pPr>
            <a:r>
              <a:rPr lang="en-US" sz="2150" b="1" err="1">
                <a:solidFill>
                  <a:srgbClr val="272525"/>
                </a:solidFill>
                <a:latin typeface="p22-mackinac-pro"/>
              </a:rPr>
              <a:t>Simulado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EF8E6B6-570D-EE83-B3E1-001F80F1025C}"/>
              </a:ext>
            </a:extLst>
          </p:cNvPr>
          <p:cNvSpPr/>
          <p:nvPr/>
        </p:nvSpPr>
        <p:spPr>
          <a:xfrm>
            <a:off x="5288755" y="6293642"/>
            <a:ext cx="3205043" cy="349925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756"/>
              </a:lnSpc>
            </a:pPr>
            <a:r>
              <a:rPr lang="en-US" sz="1700" err="1">
                <a:solidFill>
                  <a:srgbClr val="272525"/>
                </a:solidFill>
                <a:latin typeface="Eudoxus Sans"/>
              </a:rPr>
              <a:t>Conquistar</a:t>
            </a:r>
            <a:r>
              <a:rPr lang="en-US" sz="1700">
                <a:solidFill>
                  <a:srgbClr val="272525"/>
                </a:solidFill>
                <a:latin typeface="Eudoxus Sans"/>
              </a:rPr>
              <a:t> 80%,  no </a:t>
            </a:r>
            <a:r>
              <a:rPr lang="en-US" sz="1700" err="1">
                <a:solidFill>
                  <a:srgbClr val="272525"/>
                </a:solidFill>
                <a:latin typeface="Eudoxus Sans"/>
              </a:rPr>
              <a:t>mínimo</a:t>
            </a:r>
            <a:r>
              <a:rPr lang="en-US" sz="1700">
                <a:solidFill>
                  <a:srgbClr val="272525"/>
                </a:solidFill>
                <a:latin typeface="Eudoxus Sans"/>
              </a:rPr>
              <a:t>, no </a:t>
            </a:r>
            <a:endParaRPr lang="pt-PT"/>
          </a:p>
          <a:p>
            <a:pPr>
              <a:lnSpc>
                <a:spcPts val="2756"/>
              </a:lnSpc>
            </a:pPr>
            <a:r>
              <a:rPr lang="en-US" sz="1700" err="1">
                <a:solidFill>
                  <a:srgbClr val="272525"/>
                </a:solidFill>
                <a:latin typeface="Eudoxus Sans"/>
              </a:rPr>
              <a:t>Simulado</a:t>
            </a:r>
            <a:r>
              <a:rPr lang="en-US" sz="1700">
                <a:solidFill>
                  <a:srgbClr val="272525"/>
                </a:solidFill>
                <a:latin typeface="Eudoxus Sans"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4E3B-4BD6-16A3-1918-17464003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A8E5C78-EBF9-F718-20A0-9B25314B1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A8B5A8D-B4BF-6206-3145-D52B70AEB25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m 12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604AA1F4-C6BA-B669-B5E1-E3815FDB3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15" name="Google Shape;166;p29">
            <a:extLst>
              <a:ext uri="{FF2B5EF4-FFF2-40B4-BE49-F238E27FC236}">
                <a16:creationId xmlns:a16="http://schemas.microsoft.com/office/drawing/2014/main" id="{296925FE-3AF4-C6C1-58F1-F4D733037DB7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997B4B-115F-DD55-C79A-23C78FE06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0"/>
            <a:ext cx="12344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9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860D-CC40-6FCF-C5BB-7E4F2C6C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36AA2D2-3477-7C70-AFC3-25899830E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441311B-47AF-4463-8D4A-36D3946E6225}"/>
              </a:ext>
            </a:extLst>
          </p:cNvPr>
          <p:cNvSpPr/>
          <p:nvPr/>
        </p:nvSpPr>
        <p:spPr>
          <a:xfrm>
            <a:off x="0" y="11875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1DA8DBB-0EA7-CC3A-6FD0-AD7F6A8F2524}"/>
              </a:ext>
            </a:extLst>
          </p:cNvPr>
          <p:cNvSpPr/>
          <p:nvPr/>
        </p:nvSpPr>
        <p:spPr>
          <a:xfrm>
            <a:off x="4284131" y="1052199"/>
            <a:ext cx="6058223" cy="771525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6075"/>
              </a:lnSpc>
            </a:pPr>
            <a:r>
              <a:rPr lang="en-US" sz="4850" b="1" err="1">
                <a:solidFill>
                  <a:srgbClr val="000000"/>
                </a:solidFill>
                <a:latin typeface="p22-mackinac-pro"/>
                <a:ea typeface="p22-mackinac-pro"/>
              </a:rPr>
              <a:t>Composição</a:t>
            </a:r>
            <a:r>
              <a:rPr lang="en-US" sz="4850" b="1">
                <a:solidFill>
                  <a:srgbClr val="000000"/>
                </a:solidFill>
                <a:latin typeface="p22-mackinac-pro"/>
                <a:ea typeface="p22-mackinac-pro"/>
              </a:rPr>
              <a:t> do </a:t>
            </a:r>
            <a:r>
              <a:rPr lang="en-US" sz="4850" b="1" err="1">
                <a:solidFill>
                  <a:srgbClr val="000000"/>
                </a:solidFill>
                <a:latin typeface="p22-mackinac-pro"/>
                <a:ea typeface="p22-mackinac-pro"/>
              </a:rPr>
              <a:t>Curso</a:t>
            </a:r>
            <a:endParaRPr lang="en-US" sz="4850" b="1" err="1">
              <a:latin typeface="p22-mackinac-pro"/>
              <a:ea typeface="p22-mackinac-pro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FF99EC8-988B-4EC2-6376-C008C357568F}"/>
              </a:ext>
            </a:extLst>
          </p:cNvPr>
          <p:cNvSpPr/>
          <p:nvPr/>
        </p:nvSpPr>
        <p:spPr>
          <a:xfrm>
            <a:off x="1218962" y="2942153"/>
            <a:ext cx="30837" cy="3486983"/>
          </a:xfrm>
          <a:prstGeom prst="roundRect">
            <a:avLst>
              <a:gd name="adj" fmla="val 336262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CF7722B-8543-A557-FE95-17A4A89AE160}"/>
              </a:ext>
            </a:extLst>
          </p:cNvPr>
          <p:cNvSpPr/>
          <p:nvPr/>
        </p:nvSpPr>
        <p:spPr>
          <a:xfrm>
            <a:off x="956608" y="321980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79F6673-F25D-060B-FA1C-18E3E15D34A3}"/>
              </a:ext>
            </a:extLst>
          </p:cNvPr>
          <p:cNvSpPr/>
          <p:nvPr/>
        </p:nvSpPr>
        <p:spPr>
          <a:xfrm>
            <a:off x="1159133" y="3312319"/>
            <a:ext cx="150376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1</a:t>
            </a:r>
            <a:endParaRPr lang="en-US" sz="2916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44340D3-B852-9396-D1D4-13A2977440AB}"/>
              </a:ext>
            </a:extLst>
          </p:cNvPr>
          <p:cNvSpPr/>
          <p:nvPr/>
        </p:nvSpPr>
        <p:spPr>
          <a:xfrm>
            <a:off x="2081471" y="3188970"/>
            <a:ext cx="3145393" cy="38576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038"/>
              </a:lnSpc>
            </a:pPr>
            <a:r>
              <a:rPr lang="en-US" sz="2400" b="1" err="1">
                <a:solidFill>
                  <a:srgbClr val="272525"/>
                </a:solidFill>
                <a:latin typeface="Arial Nova"/>
              </a:rPr>
              <a:t>Módulo</a:t>
            </a:r>
            <a:r>
              <a:rPr lang="en-US" sz="2400" b="1">
                <a:solidFill>
                  <a:srgbClr val="272525"/>
                </a:solidFill>
                <a:latin typeface="Arial Nova"/>
              </a:rPr>
              <a:t> AWS re/Start - IA</a:t>
            </a:r>
            <a:endParaRPr lang="pt-BR" sz="2400" b="1">
              <a:latin typeface="Arial Nova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B6CF528-01D6-D2B2-E306-8DBBACE014BA}"/>
              </a:ext>
            </a:extLst>
          </p:cNvPr>
          <p:cNvSpPr/>
          <p:nvPr/>
        </p:nvSpPr>
        <p:spPr>
          <a:xfrm>
            <a:off x="8268515" y="3148298"/>
            <a:ext cx="4831772" cy="457015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038"/>
              </a:lnSpc>
            </a:pPr>
            <a:r>
              <a:rPr lang="en-US" sz="2400" b="1" err="1">
                <a:solidFill>
                  <a:srgbClr val="272525"/>
                </a:solidFill>
                <a:latin typeface="Arial Nova"/>
              </a:rPr>
              <a:t>Módulo</a:t>
            </a:r>
            <a:r>
              <a:rPr lang="en-US" sz="2400" b="1">
                <a:solidFill>
                  <a:srgbClr val="272525"/>
                </a:solidFill>
                <a:latin typeface="Arial Nova"/>
              </a:rPr>
              <a:t> No Code</a:t>
            </a:r>
            <a:endParaRPr lang="pt-BR" sz="2400" b="1">
              <a:latin typeface="Arial Nova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0A8397E3-4DCF-CD76-B5B2-77C4C0F22F18}"/>
              </a:ext>
            </a:extLst>
          </p:cNvPr>
          <p:cNvSpPr/>
          <p:nvPr/>
        </p:nvSpPr>
        <p:spPr>
          <a:xfrm>
            <a:off x="8078512" y="3705928"/>
            <a:ext cx="6127239" cy="39845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3110"/>
              </a:lnSpc>
              <a:buFont typeface="Arial"/>
              <a:buChar char="•"/>
            </a:pPr>
            <a:r>
              <a:rPr lang="en-US" sz="2000" dirty="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Aprendizado</a:t>
            </a:r>
            <a:r>
              <a:rPr lang="en-US" sz="2000" dirty="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de ferramentas de </a:t>
            </a:r>
            <a:r>
              <a:rPr lang="en-US" sz="2000" dirty="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integração</a:t>
            </a:r>
            <a:r>
              <a:rPr lang="en-US" sz="2000" dirty="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No Code</a:t>
            </a:r>
          </a:p>
        </p:txBody>
      </p:sp>
      <p:pic>
        <p:nvPicPr>
          <p:cNvPr id="19" name="Imagem 18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662FA769-7CFE-8A36-980D-2C0B3B646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1" name="Google Shape;166;p29">
            <a:extLst>
              <a:ext uri="{FF2B5EF4-FFF2-40B4-BE49-F238E27FC236}">
                <a16:creationId xmlns:a16="http://schemas.microsoft.com/office/drawing/2014/main" id="{1CFD0AFD-B1B8-EA4A-AFA2-277B1FFAF73C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0E7620C-6B8A-5CE2-848E-57EB45BBFA7D}"/>
              </a:ext>
            </a:extLst>
          </p:cNvPr>
          <p:cNvGrpSpPr/>
          <p:nvPr/>
        </p:nvGrpSpPr>
        <p:grpSpPr>
          <a:xfrm>
            <a:off x="7238654" y="2942152"/>
            <a:ext cx="849449" cy="4757642"/>
            <a:chOff x="7903672" y="2942152"/>
            <a:chExt cx="849449" cy="4757642"/>
          </a:xfrm>
        </p:grpSpPr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59F26770-E034-4501-F161-99B20C1E8E21}"/>
                </a:ext>
              </a:extLst>
            </p:cNvPr>
            <p:cNvSpPr/>
            <p:nvPr/>
          </p:nvSpPr>
          <p:spPr>
            <a:xfrm>
              <a:off x="8459099" y="3488873"/>
              <a:ext cx="294022" cy="78338"/>
            </a:xfrm>
            <a:prstGeom prst="roundRect">
              <a:avLst>
                <a:gd name="adj" fmla="val 336262"/>
              </a:avLst>
            </a:prstGeom>
            <a:solidFill>
              <a:srgbClr val="B2D4E5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37D060B0-BE68-F40E-4573-420851E2FD30}"/>
                </a:ext>
              </a:extLst>
            </p:cNvPr>
            <p:cNvSpPr/>
            <p:nvPr/>
          </p:nvSpPr>
          <p:spPr>
            <a:xfrm flipH="1">
              <a:off x="8244364" y="2942152"/>
              <a:ext cx="16664" cy="4757642"/>
            </a:xfrm>
            <a:prstGeom prst="roundRect">
              <a:avLst>
                <a:gd name="adj" fmla="val 336262"/>
              </a:avLst>
            </a:prstGeom>
            <a:solidFill>
              <a:srgbClr val="B2D4E5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7812D5E0-A109-E5D9-8B54-0F557C3F064D}"/>
                </a:ext>
              </a:extLst>
            </p:cNvPr>
            <p:cNvSpPr/>
            <p:nvPr/>
          </p:nvSpPr>
          <p:spPr>
            <a:xfrm>
              <a:off x="7903672" y="3243557"/>
              <a:ext cx="555427" cy="555427"/>
            </a:xfrm>
            <a:prstGeom prst="roundRect">
              <a:avLst>
                <a:gd name="adj" fmla="val 18669"/>
              </a:avLst>
            </a:prstGeom>
            <a:solidFill>
              <a:srgbClr val="CCEEFF"/>
            </a:solidFill>
            <a:ln w="15240">
              <a:solidFill>
                <a:srgbClr val="B2D4E5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02375454-9400-9965-CD9C-35A6C56A4E4D}"/>
                </a:ext>
              </a:extLst>
            </p:cNvPr>
            <p:cNvSpPr/>
            <p:nvPr/>
          </p:nvSpPr>
          <p:spPr>
            <a:xfrm>
              <a:off x="8106197" y="3336069"/>
              <a:ext cx="150376" cy="370284"/>
            </a:xfrm>
            <a:prstGeom prst="rect">
              <a:avLst/>
            </a:prstGeom>
            <a:noFill/>
            <a:ln/>
          </p:spPr>
          <p:txBody>
            <a:bodyPr wrap="none" lIns="91440" tIns="45720" rIns="91440" bIns="45720" rtlCol="0" anchor="t"/>
            <a:lstStyle/>
            <a:p>
              <a:pPr marL="0" indent="0" algn="ctr">
                <a:lnSpc>
                  <a:spcPts val="2916"/>
                </a:lnSpc>
                <a:buNone/>
              </a:pPr>
              <a:r>
                <a:rPr lang="en-US" sz="2900" b="1">
                  <a:solidFill>
                    <a:srgbClr val="272525"/>
                  </a:solidFill>
                  <a:latin typeface="p22-mackinac-pro"/>
                  <a:ea typeface="p22-mackinac-pro"/>
                </a:rPr>
                <a:t>2</a:t>
              </a:r>
            </a:p>
          </p:txBody>
        </p:sp>
      </p:grpSp>
      <p:sp>
        <p:nvSpPr>
          <p:cNvPr id="25" name="Text 12">
            <a:extLst>
              <a:ext uri="{FF2B5EF4-FFF2-40B4-BE49-F238E27FC236}">
                <a16:creationId xmlns:a16="http://schemas.microsoft.com/office/drawing/2014/main" id="{38904E62-79F0-6659-C576-8C1D2EF94EFB}"/>
              </a:ext>
            </a:extLst>
          </p:cNvPr>
          <p:cNvSpPr/>
          <p:nvPr/>
        </p:nvSpPr>
        <p:spPr>
          <a:xfrm>
            <a:off x="1820215" y="3777178"/>
            <a:ext cx="5497847" cy="33907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3110"/>
              </a:lnSpc>
              <a:buFont typeface="Arial"/>
              <a:buChar char="•"/>
            </a:pP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Aprendizado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sobre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Computação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em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Nuvem</a:t>
            </a:r>
            <a:endParaRPr lang="en-US" sz="2000">
              <a:solidFill>
                <a:srgbClr val="272525"/>
              </a:solidFill>
              <a:latin typeface="Arial Nova"/>
              <a:ea typeface="Eudoxus Sans"/>
            </a:endParaRPr>
          </a:p>
          <a:p>
            <a:pPr marL="342900" indent="-342900">
              <a:lnSpc>
                <a:spcPts val="3110"/>
              </a:lnSpc>
              <a:buFont typeface="Arial"/>
              <a:buChar char="•"/>
            </a:pP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Materiais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e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atividades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disponíveis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no Canvas</a:t>
            </a:r>
          </a:p>
          <a:p>
            <a:pPr marL="342900" indent="-342900">
              <a:lnSpc>
                <a:spcPts val="3110"/>
              </a:lnSpc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Ferramentas de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Inteligência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Artificial AWS</a:t>
            </a:r>
          </a:p>
          <a:p>
            <a:pPr marL="342900" indent="-342900">
              <a:lnSpc>
                <a:spcPts val="3110"/>
              </a:lnSpc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Ao final se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inicia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a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janela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de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realização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do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exame</a:t>
            </a:r>
            <a:r>
              <a:rPr lang="en-US" sz="2000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 de </a:t>
            </a:r>
            <a:r>
              <a:rPr lang="en-US" sz="2000" err="1">
                <a:solidFill>
                  <a:srgbClr val="272525"/>
                </a:solidFill>
                <a:latin typeface="Arial Nova"/>
                <a:ea typeface="Eudoxus Sans"/>
                <a:cs typeface="Eudoxus Sans" pitchFamily="34" charset="-120"/>
              </a:rPr>
              <a:t>certificação</a:t>
            </a:r>
            <a:endParaRPr lang="en-US" sz="2000">
              <a:solidFill>
                <a:srgbClr val="272525"/>
              </a:solidFill>
              <a:latin typeface="Arial Nova"/>
              <a:ea typeface="Eudoxus Sans"/>
              <a:cs typeface="Eudoxus Sans" pitchFamily="34" charset="-120"/>
            </a:endParaRPr>
          </a:p>
          <a:p>
            <a:pPr>
              <a:lnSpc>
                <a:spcPts val="3110"/>
              </a:lnSpc>
            </a:pPr>
            <a:endParaRPr lang="en-US" sz="2000">
              <a:solidFill>
                <a:srgbClr val="272525"/>
              </a:solidFill>
              <a:latin typeface="Arial Nova"/>
              <a:ea typeface="Eudoxus Sans"/>
              <a:cs typeface="Eudoxus Sans" pitchFamily="34" charset="-120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4C05A67B-6E1E-F6C1-549D-8C1C0D531CA1}"/>
              </a:ext>
            </a:extLst>
          </p:cNvPr>
          <p:cNvSpPr/>
          <p:nvPr/>
        </p:nvSpPr>
        <p:spPr>
          <a:xfrm>
            <a:off x="1498180" y="3463143"/>
            <a:ext cx="294022" cy="78338"/>
          </a:xfrm>
          <a:prstGeom prst="roundRect">
            <a:avLst>
              <a:gd name="adj" fmla="val 336262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80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29" y="2580680"/>
            <a:ext cx="4868942" cy="306824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64724" y="270748"/>
            <a:ext cx="6927175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>
                <a:solidFill>
                  <a:srgbClr val="000000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RECURSOS DO ALUNO</a:t>
            </a:r>
            <a:endParaRPr lang="en-US" sz="4860"/>
          </a:p>
        </p:txBody>
      </p:sp>
      <p:sp>
        <p:nvSpPr>
          <p:cNvPr id="7" name="Shape 2"/>
          <p:cNvSpPr/>
          <p:nvPr/>
        </p:nvSpPr>
        <p:spPr>
          <a:xfrm>
            <a:off x="6507599" y="1326833"/>
            <a:ext cx="7187328" cy="5774769"/>
          </a:xfrm>
          <a:prstGeom prst="roundRect">
            <a:avLst>
              <a:gd name="adj" fmla="val 2146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3"/>
          <p:cNvSpPr/>
          <p:nvPr/>
        </p:nvSpPr>
        <p:spPr>
          <a:xfrm>
            <a:off x="6508552" y="1684974"/>
            <a:ext cx="7199710" cy="22159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/>
          <p:nvPr/>
        </p:nvSpPr>
        <p:spPr>
          <a:xfrm>
            <a:off x="6612493" y="1326356"/>
            <a:ext cx="319528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err="1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Plantão</a:t>
            </a:r>
            <a:r>
              <a:rPr lang="en-US" sz="1944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de </a:t>
            </a:r>
            <a:r>
              <a:rPr lang="en-US" sz="1944" err="1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dúvidas</a:t>
            </a:r>
            <a:r>
              <a:rPr lang="en-US" sz="1944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</a:t>
            </a:r>
            <a:r>
              <a:rPr lang="en-US" sz="1944" err="1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instrutoria</a:t>
            </a:r>
            <a:endParaRPr lang="en-US" sz="1944" err="1"/>
          </a:p>
        </p:txBody>
      </p:sp>
      <p:sp>
        <p:nvSpPr>
          <p:cNvPr id="10" name="Text 5"/>
          <p:cNvSpPr/>
          <p:nvPr/>
        </p:nvSpPr>
        <p:spPr>
          <a:xfrm>
            <a:off x="10309027" y="1326356"/>
            <a:ext cx="3195280" cy="790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Quarta-Feira</a:t>
            </a:r>
            <a:endParaRPr lang="en-US" sz="1900" dirty="0">
              <a:solidFill>
                <a:srgbClr val="272525"/>
              </a:solidFill>
              <a:latin typeface="Eudoxus Sans"/>
              <a:ea typeface="Eudoxus Sans"/>
              <a:cs typeface="Eudoxus Sans" pitchFamily="34" charset="-120"/>
            </a:endParaRPr>
          </a:p>
          <a:p>
            <a:pPr>
              <a:lnSpc>
                <a:spcPts val="3110"/>
              </a:lnSpc>
            </a:pPr>
            <a:r>
              <a:rPr lang="en-US" sz="1900" dirty="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</a:t>
            </a:r>
            <a:r>
              <a:rPr lang="en-US" sz="1900" dirty="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Horário</a:t>
            </a:r>
            <a:r>
              <a:rPr lang="en-US" sz="1900" dirty="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: 18:00 </a:t>
            </a:r>
            <a:r>
              <a:rPr lang="en-US" sz="1900" dirty="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às</a:t>
            </a:r>
            <a:r>
              <a:rPr lang="en-US" sz="1900" dirty="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19:00</a:t>
            </a:r>
            <a:endParaRPr lang="en-US" sz="1900">
              <a:solidFill>
                <a:srgbClr val="272525"/>
              </a:solidFill>
              <a:latin typeface="Eudoxus Sans"/>
              <a:ea typeface="Eudoxus Sans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494726" y="2432578"/>
            <a:ext cx="3613086" cy="19081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 lIns="91440" tIns="45720" rIns="91440" bIns="45720" anchor="t"/>
          <a:lstStyle/>
          <a:p>
            <a:r>
              <a:rPr lang="en-US" sz="1900" err="1">
                <a:solidFill>
                  <a:srgbClr val="272525"/>
                </a:solidFill>
                <a:latin typeface="Eudoxus Sans"/>
              </a:rPr>
              <a:t>Plantão</a:t>
            </a:r>
            <a:r>
              <a:rPr lang="en-US" sz="1900">
                <a:solidFill>
                  <a:srgbClr val="272525"/>
                </a:solidFill>
                <a:latin typeface="Eudoxus Sans"/>
              </a:rPr>
              <a:t> de </a:t>
            </a:r>
            <a:r>
              <a:rPr lang="en-US" sz="1900" err="1">
                <a:solidFill>
                  <a:srgbClr val="272525"/>
                </a:solidFill>
                <a:latin typeface="Eudoxus Sans"/>
              </a:rPr>
              <a:t>dúvidas</a:t>
            </a:r>
            <a:endParaRPr lang="pt-BR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pt-BR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900" err="1">
                <a:solidFill>
                  <a:srgbClr val="272525"/>
                </a:solidFill>
                <a:ea typeface="Eudoxus Sans"/>
              </a:rPr>
              <a:t>Empregabilidade</a:t>
            </a:r>
            <a:r>
              <a:rPr lang="en-US" sz="1900">
                <a:solidFill>
                  <a:srgbClr val="272525"/>
                </a:solidFill>
                <a:ea typeface="Eudoxus Sans"/>
              </a:rPr>
              <a:t>  </a:t>
            </a:r>
            <a:endParaRPr lang="pt-BR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endParaRPr lang="en-US" sz="1900">
              <a:solidFill>
                <a:srgbClr val="272525"/>
              </a:solidFill>
              <a:latin typeface="Segoe UI"/>
              <a:ea typeface="Calibri"/>
              <a:cs typeface="Segoe UI"/>
            </a:endParaRPr>
          </a:p>
          <a:p>
            <a:r>
              <a:rPr lang="en-US" sz="1900">
                <a:solidFill>
                  <a:srgbClr val="272525"/>
                </a:solidFill>
                <a:latin typeface="Segoe UI"/>
                <a:ea typeface="Calibri"/>
                <a:cs typeface="Segoe UI"/>
                <a:hlinkClick r:id="rId6"/>
              </a:rPr>
              <a:t>Link</a:t>
            </a:r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0309027" y="2442211"/>
            <a:ext cx="3195280" cy="790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110"/>
              </a:lnSpc>
            </a:pPr>
            <a:endParaRPr lang="en-US" sz="1900">
              <a:solidFill>
                <a:srgbClr val="272525"/>
              </a:solidFill>
              <a:latin typeface="Eudoxus Sans"/>
              <a:ea typeface="Eudoxus Sans"/>
              <a:cs typeface="Eudoxus Sans" pitchFamily="34" charset="-120"/>
            </a:endParaRPr>
          </a:p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</a:rPr>
              <a:t>    </a:t>
            </a:r>
          </a:p>
        </p:txBody>
      </p:sp>
      <p:sp>
        <p:nvSpPr>
          <p:cNvPr id="14" name="Shape 9"/>
          <p:cNvSpPr/>
          <p:nvPr/>
        </p:nvSpPr>
        <p:spPr>
          <a:xfrm>
            <a:off x="6337102" y="5045392"/>
            <a:ext cx="7385447" cy="149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6612493" y="4643914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/>
          </a:p>
        </p:txBody>
      </p:sp>
      <p:sp>
        <p:nvSpPr>
          <p:cNvPr id="16" name="Text 11"/>
          <p:cNvSpPr/>
          <p:nvPr/>
        </p:nvSpPr>
        <p:spPr>
          <a:xfrm>
            <a:off x="10309027" y="2921327"/>
            <a:ext cx="3195280" cy="11851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Quinta</a:t>
            </a:r>
            <a:r>
              <a:rPr lang="en-US" sz="1900">
                <a:solidFill>
                  <a:srgbClr val="272525"/>
                </a:solidFill>
                <a:ea typeface="Eudoxus Sans"/>
              </a:rPr>
              <a:t>: 14:00 </a:t>
            </a:r>
            <a:r>
              <a:rPr lang="en-US" sz="1900" err="1">
                <a:solidFill>
                  <a:srgbClr val="272525"/>
                </a:solidFill>
                <a:ea typeface="Eudoxus Sans"/>
              </a:rPr>
              <a:t>às</a:t>
            </a:r>
            <a:r>
              <a:rPr lang="en-US" sz="1900">
                <a:solidFill>
                  <a:srgbClr val="272525"/>
                </a:solidFill>
                <a:ea typeface="Eudoxus Sans"/>
              </a:rPr>
              <a:t> 14:45</a:t>
            </a:r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6494265" y="5984796"/>
            <a:ext cx="7213997" cy="11158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6641068" y="6340554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Outros recursos</a:t>
            </a:r>
            <a:endParaRPr lang="en-US" sz="1944"/>
          </a:p>
        </p:txBody>
      </p:sp>
      <p:sp>
        <p:nvSpPr>
          <p:cNvPr id="19" name="Text 14"/>
          <p:cNvSpPr/>
          <p:nvPr/>
        </p:nvSpPr>
        <p:spPr>
          <a:xfrm>
            <a:off x="10394752" y="6340554"/>
            <a:ext cx="3195280" cy="790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Mentoria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 pitchFamily="34" charset="-122"/>
                <a:cs typeface="Eudoxus Sans" pitchFamily="34" charset="-120"/>
              </a:rPr>
              <a:t>técnica</a:t>
            </a:r>
            <a:endParaRPr lang="en-US" sz="1900" err="1">
              <a:solidFill>
                <a:srgbClr val="272525"/>
              </a:solidFill>
              <a:latin typeface="Eudoxus Sans"/>
            </a:endParaRPr>
          </a:p>
        </p:txBody>
      </p:sp>
      <p:pic>
        <p:nvPicPr>
          <p:cNvPr id="21" name="Imagem 20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045E310F-420C-E767-7EB8-BD54FFCE6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303" y="7340877"/>
            <a:ext cx="785604" cy="704021"/>
          </a:xfrm>
          <a:prstGeom prst="rect">
            <a:avLst/>
          </a:prstGeom>
        </p:spPr>
      </p:pic>
      <p:sp>
        <p:nvSpPr>
          <p:cNvPr id="23" name="Google Shape;166;p29">
            <a:extLst>
              <a:ext uri="{FF2B5EF4-FFF2-40B4-BE49-F238E27FC236}">
                <a16:creationId xmlns:a16="http://schemas.microsoft.com/office/drawing/2014/main" id="{36EAAB58-676D-E9C8-6CFC-2C7ECE74D57E}"/>
              </a:ext>
            </a:extLst>
          </p:cNvPr>
          <p:cNvSpPr txBox="1"/>
          <p:nvPr/>
        </p:nvSpPr>
        <p:spPr>
          <a:xfrm>
            <a:off x="1100314" y="751361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8682C2DA-03D5-8CBA-F762-B8D4C04C567B}"/>
              </a:ext>
            </a:extLst>
          </p:cNvPr>
          <p:cNvSpPr/>
          <p:nvPr/>
        </p:nvSpPr>
        <p:spPr>
          <a:xfrm>
            <a:off x="6523792" y="1327072"/>
            <a:ext cx="7199710" cy="1115853"/>
          </a:xfrm>
          <a:prstGeom prst="round2SameRect">
            <a:avLst/>
          </a:prstGeom>
          <a:solidFill>
            <a:srgbClr val="000000">
              <a:alpha val="4000"/>
            </a:srgbClr>
          </a:solidFill>
          <a:ln/>
        </p:spPr>
        <p:txBody>
          <a:bodyPr lIns="91440" tIns="45720" rIns="91440" bIns="45720" anchor="t"/>
          <a:lstStyle/>
          <a:p>
            <a:endParaRPr lang="pt-BR" b="1"/>
          </a:p>
          <a:p>
            <a:r>
              <a:rPr lang="pt-BR" b="1">
                <a:ea typeface="Calibri"/>
                <a:cs typeface="Calibri"/>
                <a:hlinkClick r:id="rId8"/>
              </a:rPr>
              <a:t>Link</a:t>
            </a: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AB2B2645-EE54-8277-6538-05CBFC62A37A}"/>
              </a:ext>
            </a:extLst>
          </p:cNvPr>
          <p:cNvSpPr/>
          <p:nvPr/>
        </p:nvSpPr>
        <p:spPr>
          <a:xfrm>
            <a:off x="6612493" y="5040392"/>
            <a:ext cx="3195280" cy="39504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 err="1">
                <a:solidFill>
                  <a:srgbClr val="272525"/>
                </a:solidFill>
                <a:latin typeface="Eudoxus Sans"/>
              </a:rPr>
              <a:t>Rotina</a:t>
            </a:r>
            <a:r>
              <a:rPr lang="en-US" sz="1900">
                <a:solidFill>
                  <a:srgbClr val="272525"/>
                </a:solidFill>
                <a:latin typeface="Eudoxus Sans"/>
              </a:rPr>
              <a:t> de </a:t>
            </a:r>
            <a:r>
              <a:rPr lang="en-US" sz="1900" err="1">
                <a:solidFill>
                  <a:srgbClr val="272525"/>
                </a:solidFill>
                <a:latin typeface="Eudoxus Sans"/>
              </a:rPr>
              <a:t>Estudos</a:t>
            </a:r>
            <a:endParaRPr lang="pt-BR" err="1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A0B9700A-8914-D454-4118-B78478ACF2E7}"/>
              </a:ext>
            </a:extLst>
          </p:cNvPr>
          <p:cNvSpPr/>
          <p:nvPr/>
        </p:nvSpPr>
        <p:spPr>
          <a:xfrm>
            <a:off x="10394752" y="4454991"/>
            <a:ext cx="3481030" cy="790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3110"/>
              </a:lnSpc>
            </a:pP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Guia do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exame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 Trilha de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Estudo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 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Planilha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 de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acompanhamento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Métodos</a:t>
            </a:r>
            <a:r>
              <a:rPr lang="en-US" sz="190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de </a:t>
            </a:r>
            <a:r>
              <a:rPr lang="en-US" sz="190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Estudos</a:t>
            </a:r>
            <a:endParaRPr lang="en-US" sz="1900" err="1">
              <a:latin typeface="Eudoxus Sans"/>
              <a:ea typeface="Eudoxus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864084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86408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79" y="3178969"/>
            <a:ext cx="5054322" cy="250614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1238" y="475178"/>
            <a:ext cx="7934325" cy="1080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4253"/>
              </a:lnSpc>
            </a:pPr>
            <a:r>
              <a:rPr lang="en-US" sz="3400" b="1">
                <a:solidFill>
                  <a:srgbClr val="000000"/>
                </a:solidFill>
                <a:latin typeface="p22-mackinac-pro"/>
                <a:ea typeface="p22-mackinac-pro"/>
                <a:cs typeface="p22-mackinac-pro" pitchFamily="34" charset="-120"/>
              </a:rPr>
              <a:t>JORNADA PARA ALUNOS APROVADOS</a:t>
            </a:r>
            <a:endParaRPr lang="en-US" sz="3400">
              <a:latin typeface="p22-mackinac-pro"/>
              <a:ea typeface="p22-mackinac-pro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01" y="2400300"/>
            <a:ext cx="431959" cy="431959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091238" y="2962156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Empregabilidade</a:t>
            </a:r>
            <a:endParaRPr lang="en-US" sz="1701"/>
          </a:p>
        </p:txBody>
      </p:sp>
      <p:sp>
        <p:nvSpPr>
          <p:cNvPr id="9" name="Text 3"/>
          <p:cNvSpPr/>
          <p:nvPr/>
        </p:nvSpPr>
        <p:spPr>
          <a:xfrm>
            <a:off x="6140007" y="3407093"/>
            <a:ext cx="4619053" cy="33544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177"/>
              </a:lnSpc>
            </a:pPr>
            <a:r>
              <a:rPr lang="en-US" sz="1350" err="1">
                <a:solidFill>
                  <a:srgbClr val="272525"/>
                </a:solidFill>
                <a:latin typeface="Eudoxus Sans"/>
              </a:rPr>
              <a:t>Desenvolvimento</a:t>
            </a:r>
            <a:r>
              <a:rPr lang="en-US" sz="1350">
                <a:solidFill>
                  <a:srgbClr val="272525"/>
                </a:solidFill>
                <a:latin typeface="Eudoxus Sans"/>
              </a:rPr>
              <a:t> e </a:t>
            </a:r>
            <a:r>
              <a:rPr lang="en-US" sz="1350" err="1">
                <a:solidFill>
                  <a:srgbClr val="272525"/>
                </a:solidFill>
                <a:latin typeface="Eudoxus Sans"/>
              </a:rPr>
              <a:t>exposição</a:t>
            </a:r>
            <a:r>
              <a:rPr lang="en-US" sz="1350">
                <a:solidFill>
                  <a:srgbClr val="272525"/>
                </a:solidFill>
                <a:latin typeface="Eudoxus Sans"/>
              </a:rPr>
              <a:t> de </a:t>
            </a:r>
            <a:r>
              <a:rPr lang="en-US" sz="1350" err="1">
                <a:solidFill>
                  <a:srgbClr val="272525"/>
                </a:solidFill>
                <a:latin typeface="Eudoxus Sans"/>
              </a:rPr>
              <a:t>profissionais</a:t>
            </a:r>
            <a:r>
              <a:rPr lang="en-US" sz="1350">
                <a:solidFill>
                  <a:srgbClr val="272525"/>
                </a:solidFill>
                <a:latin typeface="Eudoxus Sans"/>
              </a:rPr>
              <a:t> para o mercado .</a:t>
            </a:r>
            <a:endParaRPr lang="en-US" sz="1350">
              <a:solidFill>
                <a:srgbClr val="000000"/>
              </a:solidFill>
              <a:latin typeface="Eudoxus Sans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6" y="2401847"/>
            <a:ext cx="431959" cy="431959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334751" y="2963704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Badges</a:t>
            </a:r>
            <a:endParaRPr lang="en-US" sz="1701"/>
          </a:p>
        </p:txBody>
      </p:sp>
      <p:sp>
        <p:nvSpPr>
          <p:cNvPr id="12" name="Text 5"/>
          <p:cNvSpPr/>
          <p:nvPr/>
        </p:nvSpPr>
        <p:spPr>
          <a:xfrm>
            <a:off x="11334751" y="3408640"/>
            <a:ext cx="7934325" cy="27658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177"/>
              </a:lnSpc>
            </a:pP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Badge AWS re/Start e,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caso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aprovado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no </a:t>
            </a:r>
            <a:endParaRPr lang="en-US" sz="1350">
              <a:solidFill>
                <a:srgbClr val="000000"/>
              </a:solidFill>
              <a:latin typeface="Eudoxus Sans"/>
              <a:ea typeface="Eudoxus Sans"/>
              <a:cs typeface="Eudoxus Sans" pitchFamily="34" charset="-120"/>
            </a:endParaRPr>
          </a:p>
          <a:p>
            <a:pPr>
              <a:lnSpc>
                <a:spcPts val="2177"/>
              </a:lnSpc>
            </a:pP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exame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 de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certificação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, </a:t>
            </a:r>
            <a:endParaRPr lang="en-US" sz="1350">
              <a:solidFill>
                <a:srgbClr val="000000"/>
              </a:solidFill>
              <a:latin typeface="Eudoxus Sans"/>
              <a:ea typeface="Eudoxus Sans"/>
              <a:cs typeface="Eudoxus Sans" pitchFamily="34" charset="-120"/>
            </a:endParaRPr>
          </a:p>
          <a:p>
            <a:pPr>
              <a:lnSpc>
                <a:spcPts val="2177"/>
              </a:lnSpc>
            </a:pP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Eudoxus Sans" pitchFamily="34" charset="-120"/>
              </a:rPr>
              <a:t>a Badge  Cloud Practitioner.</a:t>
            </a:r>
            <a:endParaRPr lang="en-US" sz="1350">
              <a:latin typeface="Eudoxus Sans"/>
              <a:ea typeface="Eudoxus Sans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63326" y="4746546"/>
            <a:ext cx="431959" cy="43195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334751" y="5208390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Certificado</a:t>
            </a:r>
            <a:endParaRPr lang="en-US" sz="1701"/>
          </a:p>
        </p:txBody>
      </p:sp>
      <p:sp>
        <p:nvSpPr>
          <p:cNvPr id="15" name="Text 7"/>
          <p:cNvSpPr/>
          <p:nvPr/>
        </p:nvSpPr>
        <p:spPr>
          <a:xfrm>
            <a:off x="11334751" y="5567601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Certificado Escola da Nuvem.</a:t>
            </a:r>
            <a:endParaRPr lang="en-US" sz="1361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4101" y="4519493"/>
            <a:ext cx="431959" cy="43195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091238" y="4967049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Oportunidade</a:t>
            </a:r>
            <a:endParaRPr lang="en-US" sz="1701"/>
          </a:p>
        </p:txBody>
      </p:sp>
      <p:sp>
        <p:nvSpPr>
          <p:cNvPr id="18" name="Text 9"/>
          <p:cNvSpPr/>
          <p:nvPr/>
        </p:nvSpPr>
        <p:spPr>
          <a:xfrm>
            <a:off x="6134100" y="5340548"/>
            <a:ext cx="3505201" cy="14624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177"/>
              </a:lnSpc>
            </a:pP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Os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Alunos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 que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participam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 da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Empregabilidade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,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podem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participar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 </a:t>
            </a:r>
          </a:p>
          <a:p>
            <a:pPr>
              <a:lnSpc>
                <a:spcPts val="2177"/>
              </a:lnSpc>
            </a:pP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Das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trilhas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 de </a:t>
            </a:r>
            <a:r>
              <a:rPr lang="en-US" sz="1350" err="1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extensão</a:t>
            </a:r>
            <a:r>
              <a:rPr lang="en-US" sz="1350">
                <a:solidFill>
                  <a:srgbClr val="272525"/>
                </a:solidFill>
                <a:latin typeface="Eudoxus Sans"/>
                <a:ea typeface="Eudoxus Sans"/>
                <a:cs typeface="Calibri"/>
              </a:rPr>
              <a:t>.</a:t>
            </a:r>
          </a:p>
        </p:txBody>
      </p:sp>
      <p:pic>
        <p:nvPicPr>
          <p:cNvPr id="20" name="Imagem 19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47A60C8C-14F4-EFA0-B848-6B6C6C232B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578" y="7969527"/>
            <a:ext cx="785604" cy="704021"/>
          </a:xfrm>
          <a:prstGeom prst="rect">
            <a:avLst/>
          </a:prstGeom>
        </p:spPr>
      </p:pic>
      <p:sp>
        <p:nvSpPr>
          <p:cNvPr id="22" name="Google Shape;166;p29">
            <a:extLst>
              <a:ext uri="{FF2B5EF4-FFF2-40B4-BE49-F238E27FC236}">
                <a16:creationId xmlns:a16="http://schemas.microsoft.com/office/drawing/2014/main" id="{C1352DCD-D699-7C60-371B-2A6B0F5A92EC}"/>
              </a:ext>
            </a:extLst>
          </p:cNvPr>
          <p:cNvSpPr txBox="1"/>
          <p:nvPr/>
        </p:nvSpPr>
        <p:spPr>
          <a:xfrm>
            <a:off x="1014589" y="8142261"/>
            <a:ext cx="1974573" cy="35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 b="0" i="0" u="none" strike="noStrike" cap="none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www.escoladanuvem.org</a:t>
            </a:r>
            <a:endParaRPr lang="pt-BR" sz="1000" b="0" i="0" u="none" strike="noStrike" cap="none">
              <a:solidFill>
                <a:schemeClr val="tx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3067529E5C3B42A8FFC2E374BC2C84" ma:contentTypeVersion="14" ma:contentTypeDescription="Crie um novo documento." ma:contentTypeScope="" ma:versionID="f1b560c66490e53fded4eea670c9ffe6">
  <xsd:schema xmlns:xsd="http://www.w3.org/2001/XMLSchema" xmlns:xs="http://www.w3.org/2001/XMLSchema" xmlns:p="http://schemas.microsoft.com/office/2006/metadata/properties" xmlns:ns2="7de7f674-2011-4da9-bc44-5bf52433ef8b" xmlns:ns3="ffc42ad7-8dbc-4df0-a818-7a7be7b59f8b" targetNamespace="http://schemas.microsoft.com/office/2006/metadata/properties" ma:root="true" ma:fieldsID="57956f9c997c7b114328d0edb9445afd" ns2:_="" ns3:_="">
    <xsd:import namespace="7de7f674-2011-4da9-bc44-5bf52433ef8b"/>
    <xsd:import namespace="ffc42ad7-8dbc-4df0-a818-7a7be7b59f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DataExpiraca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7f674-2011-4da9-bc44-5bf52433ef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ed2ae365-7403-4601-a99c-c70f0c73a1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aExpiracao" ma:index="21" nillable="true" ma:displayName="DataExpiracao" ma:format="DateOnly" ma:internalName="DataExpiracao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c42ad7-8dbc-4df0-a818-7a7be7b59f8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24f2e8a-1875-407f-9db3-6eb7d7be3482}" ma:internalName="TaxCatchAll" ma:showField="CatchAllData" ma:web="ffc42ad7-8dbc-4df0-a818-7a7be7b59f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c42ad7-8dbc-4df0-a818-7a7be7b59f8b" xsi:nil="true"/>
    <lcf76f155ced4ddcb4097134ff3c332f xmlns="7de7f674-2011-4da9-bc44-5bf52433ef8b">
      <Terms xmlns="http://schemas.microsoft.com/office/infopath/2007/PartnerControls"/>
    </lcf76f155ced4ddcb4097134ff3c332f>
    <DataExpiracao xmlns="7de7f674-2011-4da9-bc44-5bf52433ef8b" xsi:nil="true"/>
  </documentManagement>
</p:properties>
</file>

<file path=customXml/itemProps1.xml><?xml version="1.0" encoding="utf-8"?>
<ds:datastoreItem xmlns:ds="http://schemas.openxmlformats.org/officeDocument/2006/customXml" ds:itemID="{6E9B2ED3-59D9-4925-92A4-00F3D99D1D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ADE322-DB95-427E-97E7-8E73019E8A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e7f674-2011-4da9-bc44-5bf52433ef8b"/>
    <ds:schemaRef ds:uri="ffc42ad7-8dbc-4df0-a818-7a7be7b59f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CA438E-896E-47FC-9686-A49EA591BA9F}">
  <ds:schemaRefs>
    <ds:schemaRef ds:uri="7de7f674-2011-4da9-bc44-5bf52433ef8b"/>
    <ds:schemaRef ds:uri="d2edcc65-142a-49e1-9f5e-bac1dfd6bf38"/>
    <ds:schemaRef ds:uri="e22209be-61c4-4581-9001-1fb5230e3f42"/>
    <ds:schemaRef ds:uri="ffc42ad7-8dbc-4df0-a818-7a7be7b59f8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Personalizar</PresentationFormat>
  <Slides>13</Slides>
  <Notes>13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20</cp:revision>
  <dcterms:created xsi:type="dcterms:W3CDTF">2024-07-15T13:14:04Z</dcterms:created>
  <dcterms:modified xsi:type="dcterms:W3CDTF">2026-06-03T18:31:50Z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0x010100D83067529E5C3B42A8FFC2E374BC2C84</vt:lpwstr>
  </property>
  <property fmtid="{D5CDD505-2E9C-101B-9397-08002B2CF9AE}" pid="3" name="MediaServiceImageTags">
    <vt:lpwstr/>
  </property>
</Properties>
</file>